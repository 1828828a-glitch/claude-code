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4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image" Target="../media/image-6-5.jp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2.png"/><Relationship Id="rId5" Type="http://schemas.openxmlformats.org/officeDocument/2006/relationships/image" Target="../media/image-7-5.png"/><Relationship Id="rId6" Type="http://schemas.openxmlformats.org/officeDocument/2006/relationships/image" Target="../media/image-7-2.png"/><Relationship Id="rId7" Type="http://schemas.openxmlformats.org/officeDocument/2006/relationships/image" Target="../media/image-7-7.png"/><Relationship Id="rId8" Type="http://schemas.openxmlformats.org/officeDocument/2006/relationships/image" Target="../media/image-7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669280" cy="5669280"/>
          </a:xfrm>
          <a:prstGeom prst="ellipse">
            <a:avLst/>
          </a:prstGeom>
          <a:solidFill>
            <a:srgbClr val="0033A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566160"/>
            <a:ext cx="4206240" cy="4206240"/>
          </a:xfrm>
          <a:prstGeom prst="ellipse">
            <a:avLst/>
          </a:prstGeom>
          <a:solidFill>
            <a:srgbClr val="2B5CC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89720" y="4206240"/>
            <a:ext cx="502920" cy="502920"/>
          </a:xfrm>
          <a:prstGeom prst="ellipse">
            <a:avLst/>
          </a:prstGeom>
          <a:solidFill>
            <a:srgbClr val="E836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D8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PLANNING &amp; PROMOTION  |  TRACK RECORD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8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アシックス様 御中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5176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企画・宣伝 実績のご紹介</a:t>
            </a:r>
            <a:endParaRPr lang="en-US" sz="5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8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CM・SNS・イベントからショールームまで、一気通貫のプロモーション支援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企画・宣伝協同組合   |   2026年9月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 |  ABOUT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企画・宣伝とは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商品の魅力を、映像・電波・売場・体験の場まで届けきる仕事です。企画立案からキャスティング、制作、当日運営まで一気通貫で担います。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530352" cy="530352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6" name="Image 0" descr="/tmp/claude-0/-home-user-Claude-Code/5b1af059-02d5-5344-bd37-e960664de323/scratchpad/asics/icons/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2698212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252374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動画制作・CM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2871216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TVCM、WEB CM、リクルート動画。楽曲タイアップやタレントキャスティングも社内で完結。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822192"/>
            <a:ext cx="530352" cy="530352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0" name="Image 1" descr="/tmp/claude-0/-home-user-Claude-Code/5b1af059-02d5-5344-bd37-e960664de323/scratchpad/asics/icons/mes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3960084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98448" y="378561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SNS・メディア展開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1298448" y="4133088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Instagram・X・YouTubeの運用に加え、テレビ・ラジオの番組提供やコーナー制作まで。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5084064"/>
            <a:ext cx="530352" cy="530352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4" name="Image 2" descr="/tmp/claude-0/-home-user-Claude-Code/5b1af059-02d5-5344-bd37-e960664de323/scratchpad/asics/icons/map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2" y="522195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5047488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イベント・売場づくり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1298448" y="5394960"/>
            <a:ext cx="5394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展示会、ファッションショー、トークショー。店頭販促物やショールームのデザインも。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040880" y="1463040"/>
            <a:ext cx="4617720" cy="4983480"/>
          </a:xfrm>
          <a:prstGeom prst="roundRect">
            <a:avLst>
              <a:gd name="adj" fmla="val 2376"/>
            </a:avLst>
          </a:prstGeom>
          <a:solidFill>
            <a:srgbClr val="EEF3FB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7406640" y="17556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本日ご紹介する内容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7406640" y="2267712"/>
            <a:ext cx="384048" cy="384048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7406640" y="2267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7936992" y="22860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企画・宣伝とは(概要)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7406640" y="2843784"/>
            <a:ext cx="384048" cy="384048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40664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7936992" y="2862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  ワークマン様・西川様 ほか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7406640" y="3419856"/>
            <a:ext cx="384048" cy="384048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740664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7936992" y="343814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ショールーム運営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7406640" y="3995928"/>
            <a:ext cx="384048" cy="384048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7406640" y="3995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7936992" y="401421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SNSチーム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7406640" y="4572000"/>
            <a:ext cx="384048" cy="384048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740664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7936992" y="459028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イベントチーム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7406640" y="5148072"/>
            <a:ext cx="384048" cy="384048"/>
          </a:xfrm>
          <a:prstGeom prst="ellipse">
            <a:avLst/>
          </a:prstGeom>
          <a:solidFill>
            <a:srgbClr val="0033A0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740664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7936992" y="51663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メディアチーム</a:t>
            </a:r>
            <a:endParaRPr lang="en-US" sz="1250" dirty="0"/>
          </a:p>
        </p:txBody>
      </p:sp>
      <p:sp>
        <p:nvSpPr>
          <p:cNvPr id="37" name="Shape 32"/>
          <p:cNvSpPr/>
          <p:nvPr/>
        </p:nvSpPr>
        <p:spPr>
          <a:xfrm>
            <a:off x="7406640" y="5724144"/>
            <a:ext cx="384048" cy="384048"/>
          </a:xfrm>
          <a:prstGeom prst="ellipse">
            <a:avLst/>
          </a:prstGeom>
          <a:solidFill>
            <a:srgbClr val="E8362D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7406640" y="5724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4"/>
          <p:cNvSpPr txBox="1"/>
          <p:nvPr/>
        </p:nvSpPr>
        <p:spPr>
          <a:xfrm>
            <a:off x="7936992" y="574243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アシックス商事様との取り組み</a:t>
            </a:r>
            <a:endParaRPr lang="en-US" sz="1250" dirty="0"/>
          </a:p>
        </p:txBody>
      </p:sp>
      <p:sp>
        <p:nvSpPr>
          <p:cNvPr id="40" name="Text 35"/>
          <p:cNvSpPr txBox="1"/>
          <p:nvPr/>
        </p:nvSpPr>
        <p:spPr>
          <a:xfrm>
            <a:off x="113842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 | 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  主なクライアント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2121408"/>
          </a:xfrm>
          <a:prstGeom prst="roundRect">
            <a:avLst>
              <a:gd name="adj" fmla="val 3448"/>
            </a:avLst>
          </a:prstGeom>
          <a:solidFill>
            <a:srgbClr val="EEF3FB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56232"/>
            <a:ext cx="475488" cy="475488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6" name="Image 0" descr="/tmp/claude-0/-home-user-Claude-Code/5b1af059-02d5-5344-bd37-e960664de323/scratchpad/asics/icons/c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299" y="1979859"/>
            <a:ext cx="228234" cy="2282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ワークマン様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514600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動画撮影・制作とSNS運用。#ワークマン女子ブームを支えた発信を担当。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462272" y="1600200"/>
            <a:ext cx="3657600" cy="2121408"/>
          </a:xfrm>
          <a:prstGeom prst="roundRect">
            <a:avLst>
              <a:gd name="adj" fmla="val 3448"/>
            </a:avLst>
          </a:prstGeom>
          <a:solidFill>
            <a:srgbClr val="EEF3FB"/>
          </a:solidFill>
          <a:ln/>
        </p:spPr>
      </p:sp>
      <p:sp>
        <p:nvSpPr>
          <p:cNvPr id="10" name="Shape 7"/>
          <p:cNvSpPr/>
          <p:nvPr/>
        </p:nvSpPr>
        <p:spPr>
          <a:xfrm>
            <a:off x="4718304" y="1856232"/>
            <a:ext cx="475488" cy="475488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1" name="Image 1" descr="/tmp/claude-0/-home-user-Claude-Code/5b1af059-02d5-5344-bd37-e960664de323/scratchpad/asics/icons/he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931" y="1979859"/>
            <a:ext cx="228234" cy="22823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30952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西川様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718304" y="2514600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おてごろ西川のTVCM制作と、ニッポン放送でのオリジナル番組2本を展開。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375904" y="1600200"/>
            <a:ext cx="3657600" cy="2121408"/>
          </a:xfrm>
          <a:prstGeom prst="roundRect">
            <a:avLst>
              <a:gd name="adj" fmla="val 3448"/>
            </a:avLst>
          </a:prstGeom>
          <a:solidFill>
            <a:srgbClr val="EEF3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631936" y="1856232"/>
            <a:ext cx="475488" cy="475488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6" name="Image 2" descr="/tmp/claude-0/-home-user-Claude-Code/5b1af059-02d5-5344-bd37-e960664de323/scratchpad/asics/icons/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563" y="1979859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44584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大塚製薬様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631936" y="2514600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プロモーション施策のご支援。(取り組み内容を追記してください)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95928"/>
            <a:ext cx="3657600" cy="2121408"/>
          </a:xfrm>
          <a:prstGeom prst="roundRect">
            <a:avLst>
              <a:gd name="adj" fmla="val 3448"/>
            </a:avLst>
          </a:prstGeom>
          <a:solidFill>
            <a:srgbClr val="EEF3FB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4251960"/>
            <a:ext cx="475488" cy="475488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21" name="Image 3" descr="/tmp/claude-0/-home-user-Claude-Code/5b1af059-02d5-5344-bd37-e960664de323/scratchpad/asics/icons/thumbs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99" y="4375587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270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青山商事様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4910328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LPのクリエイティブから撮影までトータルプロデュース。Instagramも運用。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462272" y="3995928"/>
            <a:ext cx="3657600" cy="2121408"/>
          </a:xfrm>
          <a:prstGeom prst="roundRect">
            <a:avLst>
              <a:gd name="adj" fmla="val 3448"/>
            </a:avLst>
          </a:prstGeom>
          <a:solidFill>
            <a:srgbClr val="EEF3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718304" y="4251960"/>
            <a:ext cx="475488" cy="475488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26" name="Image 4" descr="/tmp/claude-0/-home-user-Claude-Code/5b1af059-02d5-5344-bd37-e960664de323/scratchpad/asics/icons/shoppingb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931" y="4375587"/>
            <a:ext cx="228234" cy="22823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30952" y="4270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ファッション各社様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718304" y="4910328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チヨダ様のRUDOタイアップムービー、moimolnの日本上陸PRなど。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375904" y="3995928"/>
            <a:ext cx="3657600" cy="2121408"/>
          </a:xfrm>
          <a:prstGeom prst="roundRect">
            <a:avLst>
              <a:gd name="adj" fmla="val 3448"/>
            </a:avLst>
          </a:prstGeom>
          <a:solidFill>
            <a:srgbClr val="EEF3FB"/>
          </a:solidFill>
          <a:ln/>
        </p:spPr>
      </p:sp>
      <p:sp>
        <p:nvSpPr>
          <p:cNvPr id="30" name="Shape 23"/>
          <p:cNvSpPr/>
          <p:nvPr/>
        </p:nvSpPr>
        <p:spPr>
          <a:xfrm>
            <a:off x="8631936" y="4251960"/>
            <a:ext cx="475488" cy="475488"/>
          </a:xfrm>
          <a:prstGeom prst="ellipse">
            <a:avLst/>
          </a:prstGeom>
          <a:solidFill>
            <a:srgbClr val="E8362D"/>
          </a:solidFill>
          <a:ln/>
        </p:spPr>
      </p:sp>
      <p:pic>
        <p:nvPicPr>
          <p:cNvPr id="31" name="Image 5" descr="/tmp/claude-0/-home-user-Claude-Code/5b1af059-02d5-5344-bd37-e960664de323/scratchpad/asics/icons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5563" y="4375587"/>
            <a:ext cx="228234" cy="22823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244584" y="42702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キャスティング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631936" y="4910328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中村アン、菜々緒、所ジョージ、千原ジュニア、竹原ピストル、磯山さやか ほか多数。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※サザンオールスターズ楽曲タイアップ(西川様CM)など、詳細は次ページ以降でご紹介します。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3842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 | 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  ワークマン様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領域  動画撮影・制作 / SNS運用 / イベント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0352" cy="530352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6" name="Image 0" descr="/tmp/claude-0/-home-user-Claude-Code/5b1af059-02d5-5344-bd37-e960664de323/scratchpad/asics/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2058132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8836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SNS運用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2231136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製品情報と各種イベント情報を発信。キャンパーや森ガールに支持が広がり、#ワークマン女子のブームを後押ししました。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3401568"/>
            <a:ext cx="530352" cy="530352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0" name="Image 1" descr="/tmp/claude-0/-home-user-Claude-Code/5b1af059-02d5-5344-bd37-e960664de323/scratchpad/asics/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3539460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98448" y="33649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過酷ファッションショー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298448" y="3712464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豪雨や強風を再現した会場で製品の機能性を見せるショーを開催・撮影。異例のスタイルが話題になり、多くのメディアで紹介されました。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882896"/>
            <a:ext cx="530352" cy="530352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4" name="Image 2" descr="/tmp/claude-0/-home-user-Claude-Code/5b1af059-02d5-5344-bd37-e960664de323/scratchpad/asics/icons/vide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2" y="5020788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4846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リクルーティング動画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298448" y="5193792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学生向けの採用動画を企画制作。現場で働く若手の声を通して、仕事の魅力と職場環境を伝えています。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492240" y="1920240"/>
            <a:ext cx="5166360" cy="2011680"/>
          </a:xfrm>
          <a:prstGeom prst="roundRect">
            <a:avLst>
              <a:gd name="adj" fmla="val 2727"/>
            </a:avLst>
          </a:prstGeom>
          <a:solidFill>
            <a:srgbClr val="DCE3EE"/>
          </a:solidFill>
          <a:ln/>
        </p:spPr>
      </p:sp>
      <p:sp>
        <p:nvSpPr>
          <p:cNvPr id="18" name="Shape 13"/>
          <p:cNvSpPr/>
          <p:nvPr/>
        </p:nvSpPr>
        <p:spPr>
          <a:xfrm>
            <a:off x="8865108" y="260604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19" name="Image 3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4470" y="2715402"/>
            <a:ext cx="201900" cy="2019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537960" y="301752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ファッションショー・撮影現場の写真を挿入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492240" y="411480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DCE3EE"/>
          </a:solidFill>
          <a:ln/>
        </p:spPr>
      </p:sp>
      <p:sp>
        <p:nvSpPr>
          <p:cNvPr id="22" name="Shape 16"/>
          <p:cNvSpPr/>
          <p:nvPr/>
        </p:nvSpPr>
        <p:spPr>
          <a:xfrm>
            <a:off x="7525512" y="470916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23" name="Image 4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4874" y="4818522"/>
            <a:ext cx="201900" cy="201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537960" y="51206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SNS投稿画像を挿入</a:t>
            </a:r>
            <a:endParaRPr lang="en-US" sz="850" dirty="0"/>
          </a:p>
        </p:txBody>
      </p:sp>
      <p:sp>
        <p:nvSpPr>
          <p:cNvPr id="25" name="Shape 18"/>
          <p:cNvSpPr/>
          <p:nvPr/>
        </p:nvSpPr>
        <p:spPr>
          <a:xfrm>
            <a:off x="9171432" y="4114800"/>
            <a:ext cx="2487168" cy="1828800"/>
          </a:xfrm>
          <a:prstGeom prst="roundRect">
            <a:avLst>
              <a:gd name="adj" fmla="val 3000"/>
            </a:avLst>
          </a:prstGeom>
          <a:solidFill>
            <a:srgbClr val="DCE3EE"/>
          </a:solidFill>
          <a:ln/>
        </p:spPr>
      </p:sp>
      <p:sp>
        <p:nvSpPr>
          <p:cNvPr id="26" name="Shape 19"/>
          <p:cNvSpPr/>
          <p:nvPr/>
        </p:nvSpPr>
        <p:spPr>
          <a:xfrm>
            <a:off x="10204704" y="470916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27" name="Image 5" descr="/tmp/claude-0/-home-user-Claude-Code/5b1af059-02d5-5344-bd37-e960664de323/scratchpad/asics/icons/pla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14066" y="4818522"/>
            <a:ext cx="201900" cy="2019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217152" y="512064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動画キャプチャを挿入</a:t>
            </a:r>
            <a:endParaRPr lang="en-US" sz="850" dirty="0"/>
          </a:p>
        </p:txBody>
      </p:sp>
      <p:sp>
        <p:nvSpPr>
          <p:cNvPr id="29" name="Text 21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※写真・動画・数値は素材の共有後に差し替えます。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113842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 | 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  西川様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領域  TVCM / ラジオ番組制作 / トークショー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30352" cy="530352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6" name="Image 0" descr="/tmp/claude-0/-home-user-Claude-Code/5b1af059-02d5-5344-bd37-e960664de323/scratchpad/asics/icons/fil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6532" y="2058132"/>
            <a:ext cx="254569" cy="25456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98448" y="1883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おてごろ西川 TVCM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2231136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高品質な寝具を手頃な価格で届けるシリーズの立ち上げに参画。サザンオールスターズ「夢の宇宙旅行」とタイアップし、老舗nishikawaにない演出のCMを制作しました。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3401568"/>
            <a:ext cx="530352" cy="530352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0" name="Image 1" descr="/tmp/claude-0/-home-user-Claude-Code/5b1af059-02d5-5344-bd37-e960664de323/scratchpad/asics/icons/rad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32" y="3539460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98448" y="33649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ニッポン放送 オリジナル番組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298448" y="3712464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GENERATIONS小森隼さんの「Good Laugh and Sleep」、磯山さやかさんの「Goodナイト!Goodトーク!」の2番組を制作。番組SNSの運用も担当しています。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4882896"/>
            <a:ext cx="530352" cy="530352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4" name="Image 2" descr="/tmp/claude-0/-home-user-Claude-Code/5b1af059-02d5-5344-bd37-e960664de323/scratchpad/asics/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32" y="5020788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8448" y="4846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トークショー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1298448" y="5193792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お取引先の店舗で契約タレントやスポーツ選手を招いたトークショーを実施。白濱亜嵐さんをゲストに迎えた回も。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766560" y="1920240"/>
            <a:ext cx="4892040" cy="2011680"/>
          </a:xfrm>
          <a:prstGeom prst="roundRect">
            <a:avLst>
              <a:gd name="adj" fmla="val 2727"/>
            </a:avLst>
          </a:prstGeom>
          <a:solidFill>
            <a:srgbClr val="DCE3EE"/>
          </a:solidFill>
          <a:ln/>
        </p:spPr>
      </p:sp>
      <p:sp>
        <p:nvSpPr>
          <p:cNvPr id="18" name="Shape 13"/>
          <p:cNvSpPr/>
          <p:nvPr/>
        </p:nvSpPr>
        <p:spPr>
          <a:xfrm>
            <a:off x="9002268" y="260604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19" name="Image 3" descr="/tmp/claude-0/-home-user-Claude-Code/5b1af059-02d5-5344-bd37-e960664de323/scratchpad/asics/icons/p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1630" y="2715402"/>
            <a:ext cx="201900" cy="2019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812280" y="301752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CMカット・番組ビジュアルを挿入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6766560" y="4114800"/>
            <a:ext cx="4892040" cy="1828800"/>
          </a:xfrm>
          <a:prstGeom prst="roundRect">
            <a:avLst>
              <a:gd name="adj" fmla="val 3000"/>
            </a:avLst>
          </a:prstGeom>
          <a:solidFill>
            <a:srgbClr val="DCE3EE"/>
          </a:solidFill>
          <a:ln/>
        </p:spPr>
      </p:sp>
      <p:sp>
        <p:nvSpPr>
          <p:cNvPr id="22" name="Shape 16"/>
          <p:cNvSpPr/>
          <p:nvPr/>
        </p:nvSpPr>
        <p:spPr>
          <a:xfrm>
            <a:off x="9002268" y="470916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23" name="Image 4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1630" y="4818522"/>
            <a:ext cx="201900" cy="2019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812280" y="512064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トークショーの写真を挿入</a:t>
            </a:r>
            <a:endParaRPr lang="en-US" sz="850" dirty="0"/>
          </a:p>
        </p:txBody>
      </p:sp>
      <p:sp>
        <p:nvSpPr>
          <p:cNvPr id="25" name="Text 18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※写真・動画・数値は素材の共有後に差し替えます。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13842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 |  SHOWROOM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ショールーム運営  ifca showroom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自社ショールーム ifca showroom を運営。直近では2026AW展示会を8月26日・27日に開催しました(写真は会場の様子)。</a:t>
            </a:r>
            <a:endParaRPr lang="en-US" sz="1300" dirty="0"/>
          </a:p>
        </p:txBody>
      </p:sp>
      <p:pic>
        <p:nvPicPr>
          <p:cNvPr id="5" name="Image 0" descr="/tmp/claude-0/-home-user-Claude-Code/5b1af059-02d5-5344-bd37-e960664de323/scratchpad/asics/photo_sr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3657600" cy="1920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7" name="Image 1" descr="/tmp/claude-0/-home-user-Claude-Code/5b1af059-02d5-5344-bd37-e960664de323/scratchpad/asics/icons/mapp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423367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143000" y="41788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企画・展示構成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6908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シーズンごとのテーマ設計と展示替え。来場目的に合わせた動線をつくります。</a:t>
            </a:r>
            <a:endParaRPr lang="en-US" sz="1100" dirty="0"/>
          </a:p>
        </p:txBody>
      </p:sp>
      <p:pic>
        <p:nvPicPr>
          <p:cNvPr id="10" name="Image 2" descr="/tmp/claude-0/-home-user-Claude-Code/5b1af059-02d5-5344-bd37-e960664de323/scratchpad/asics/photo_sr2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272" y="1965960"/>
            <a:ext cx="3657600" cy="19202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462272" y="4114800"/>
            <a:ext cx="457200" cy="457200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2" name="Image 3" descr="/tmp/claude-0/-home-user-Claude-Code/5b1af059-02d5-5344-bd37-e960664de323/scratchpad/asics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423367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056632" y="41788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接客・運営</a:t>
            </a:r>
            <a:endParaRPr lang="en-US" sz="1400" dirty="0"/>
          </a:p>
        </p:txBody>
      </p:sp>
      <p:sp>
        <p:nvSpPr>
          <p:cNvPr id="14" name="Text 8"/>
          <p:cNvSpPr txBox="1"/>
          <p:nvPr/>
        </p:nvSpPr>
        <p:spPr>
          <a:xfrm>
            <a:off x="4462272" y="46908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常駐スタッフによるご案内と商談対応。バイヤー向けの内覧会も運営します。</a:t>
            </a:r>
            <a:endParaRPr lang="en-US" sz="1100" dirty="0"/>
          </a:p>
        </p:txBody>
      </p:sp>
      <p:pic>
        <p:nvPicPr>
          <p:cNvPr id="15" name="Image 4" descr="/tmp/claude-0/-home-user-Claude-Code/5b1af059-02d5-5344-bd37-e960664de323/scratchpad/asics/photo_sr3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965960"/>
            <a:ext cx="3657600" cy="192024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375904" y="4114800"/>
            <a:ext cx="457200" cy="457200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7" name="Image 5" descr="/tmp/claude-0/-home-user-Claude-Code/5b1af059-02d5-5344-bd37-e960664de323/scratchpad/asics/icons/clipbo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4233672"/>
            <a:ext cx="219456" cy="219456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8970264" y="4178808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来場データの活用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8375904" y="4690872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来場者アンケートと商談記録を集計し、展示・商品開発へフィードバック。</a:t>
            </a:r>
            <a:endParaRPr lang="en-US" sz="1100" dirty="0"/>
          </a:p>
        </p:txBody>
      </p:sp>
      <p:sp>
        <p:nvSpPr>
          <p:cNvPr id="20" name="Text 12"/>
          <p:cNvSpPr txBox="1"/>
          <p:nvPr/>
        </p:nvSpPr>
        <p:spPr>
          <a:xfrm>
            <a:off x="548640" y="5806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年間来場者  </a:t>
            </a:r>
            <a:pPr indent="0" marL="0">
              <a:buNone/>
            </a:pPr>
            <a:r>
              <a:rPr lang="en-US" sz="2000" b="1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X,XXX名</a:t>
            </a:r>
            <a:pPr indent="0" marL="0">
              <a:buNone/>
            </a:pPr>
            <a:r>
              <a:rPr lang="en-US" sz="13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商談につながった割合  </a:t>
            </a:r>
            <a:pPr indent="0" marL="0">
              <a:buNone/>
            </a:pPr>
            <a:r>
              <a:rPr lang="en-US" sz="2000" b="1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XX%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※来場者数などの数値はサンプルです。実績値に差し替えてご利用ください。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113842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04  |  SOCIAL MEDIA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SNSチーム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企画・撮影・投稿・分析までを一括で運用。番組やイベントと連動した展開が得意です。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EEF3FB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258568"/>
            <a:ext cx="502920" cy="502920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7" name="Image 0" descr="/tmp/claude-0/-home-user-Claude-Code/5b1af059-02d5-5344-bd37-e960664de323/scratchpad/asics/icons/mes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007" y="2389327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ワークマン様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288036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Instagram・Xで製品情報とイベント情報を発信。ユーザー投稿の広がりを活かした運用。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51960" y="2221992"/>
            <a:ext cx="1490472" cy="1463040"/>
          </a:xfrm>
          <a:prstGeom prst="roundRect">
            <a:avLst>
              <a:gd name="adj" fmla="val 3750"/>
            </a:avLst>
          </a:prstGeom>
          <a:solidFill>
            <a:srgbClr val="DCE3EE"/>
          </a:solidFill>
          <a:ln/>
        </p:spPr>
      </p:sp>
      <p:sp>
        <p:nvSpPr>
          <p:cNvPr id="11" name="Shape 8"/>
          <p:cNvSpPr/>
          <p:nvPr/>
        </p:nvSpPr>
        <p:spPr>
          <a:xfrm>
            <a:off x="4786884" y="2633472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12" name="Image 1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246" y="2742834"/>
            <a:ext cx="201900" cy="2019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97680" y="3044952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投稿画像を挿入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6355080" y="196596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EEF3FB"/>
          </a:solidFill>
          <a:ln/>
        </p:spPr>
      </p:sp>
      <p:sp>
        <p:nvSpPr>
          <p:cNvPr id="15" name="Shape 11"/>
          <p:cNvSpPr/>
          <p:nvPr/>
        </p:nvSpPr>
        <p:spPr>
          <a:xfrm>
            <a:off x="6647688" y="2258568"/>
            <a:ext cx="502920" cy="502920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6" name="Image 2" descr="/tmp/claude-0/-home-user-Claude-Code/5b1af059-02d5-5344-bd37-e960664de323/scratchpad/asics/icons/he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447" y="2389327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36092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JA全農様・JAタウン様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6647688" y="288036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YouTube番組ファンファームと連動し、公式Instagramのショート動画を多数制作。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10058400" y="2221992"/>
            <a:ext cx="1490472" cy="1463040"/>
          </a:xfrm>
          <a:prstGeom prst="roundRect">
            <a:avLst>
              <a:gd name="adj" fmla="val 3750"/>
            </a:avLst>
          </a:prstGeom>
          <a:solidFill>
            <a:srgbClr val="DCE3EE"/>
          </a:solidFill>
          <a:ln/>
        </p:spPr>
      </p:sp>
      <p:sp>
        <p:nvSpPr>
          <p:cNvPr id="20" name="Shape 15"/>
          <p:cNvSpPr/>
          <p:nvPr/>
        </p:nvSpPr>
        <p:spPr>
          <a:xfrm>
            <a:off x="10593324" y="2633472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21" name="Image 3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2686" y="2742834"/>
            <a:ext cx="201900" cy="2019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0104120" y="3044952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投稿画像を挿入</a:t>
            </a:r>
            <a:endParaRPr lang="en-US" sz="850" dirty="0"/>
          </a:p>
        </p:txBody>
      </p:sp>
      <p:sp>
        <p:nvSpPr>
          <p:cNvPr id="23" name="Shape 17"/>
          <p:cNvSpPr/>
          <p:nvPr/>
        </p:nvSpPr>
        <p:spPr>
          <a:xfrm>
            <a:off x="548640" y="425196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EEF3FB"/>
          </a:solidFill>
          <a:ln/>
        </p:spPr>
      </p:sp>
      <p:sp>
        <p:nvSpPr>
          <p:cNvPr id="24" name="Shape 18"/>
          <p:cNvSpPr/>
          <p:nvPr/>
        </p:nvSpPr>
        <p:spPr>
          <a:xfrm>
            <a:off x="841248" y="4544568"/>
            <a:ext cx="502920" cy="502920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25" name="Image 4" descr="/tmp/claude-0/-home-user-Claude-Code/5b1af059-02d5-5344-bd37-e960664de323/scratchpad/asics/icons/thumbs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007" y="4675327"/>
            <a:ext cx="241402" cy="24140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54480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青山商事様</a:t>
            </a:r>
            <a:endParaRPr lang="en-US" sz="1450" dirty="0"/>
          </a:p>
        </p:txBody>
      </p:sp>
      <p:sp>
        <p:nvSpPr>
          <p:cNvPr id="27" name="Text 20"/>
          <p:cNvSpPr txBox="1"/>
          <p:nvPr/>
        </p:nvSpPr>
        <p:spPr>
          <a:xfrm>
            <a:off x="841248" y="516636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撮影場所・モデル手配・スタイリングまでプロデュースし、Instagramを運用。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251960" y="4507992"/>
            <a:ext cx="1490472" cy="1463040"/>
          </a:xfrm>
          <a:prstGeom prst="roundRect">
            <a:avLst>
              <a:gd name="adj" fmla="val 3750"/>
            </a:avLst>
          </a:prstGeom>
          <a:solidFill>
            <a:srgbClr val="DCE3EE"/>
          </a:solidFill>
          <a:ln/>
        </p:spPr>
      </p:sp>
      <p:sp>
        <p:nvSpPr>
          <p:cNvPr id="29" name="Shape 22"/>
          <p:cNvSpPr/>
          <p:nvPr/>
        </p:nvSpPr>
        <p:spPr>
          <a:xfrm>
            <a:off x="4786884" y="4919472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30" name="Image 5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6246" y="5028834"/>
            <a:ext cx="201900" cy="2019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297680" y="5330952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投稿画像を挿入</a:t>
            </a:r>
            <a:endParaRPr lang="en-US" sz="850" dirty="0"/>
          </a:p>
        </p:txBody>
      </p:sp>
      <p:sp>
        <p:nvSpPr>
          <p:cNvPr id="32" name="Shape 24"/>
          <p:cNvSpPr/>
          <p:nvPr/>
        </p:nvSpPr>
        <p:spPr>
          <a:xfrm>
            <a:off x="6355080" y="425196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EEF3FB"/>
          </a:solidFill>
          <a:ln/>
        </p:spPr>
      </p:sp>
      <p:sp>
        <p:nvSpPr>
          <p:cNvPr id="33" name="Shape 25"/>
          <p:cNvSpPr/>
          <p:nvPr/>
        </p:nvSpPr>
        <p:spPr>
          <a:xfrm>
            <a:off x="6647688" y="4544568"/>
            <a:ext cx="502920" cy="502920"/>
          </a:xfrm>
          <a:prstGeom prst="ellipse">
            <a:avLst/>
          </a:prstGeom>
          <a:solidFill>
            <a:srgbClr val="E8362D"/>
          </a:solidFill>
          <a:ln/>
        </p:spPr>
      </p:sp>
      <p:pic>
        <p:nvPicPr>
          <p:cNvPr id="34" name="Image 6" descr="/tmp/claude-0/-home-user-Claude-Code/5b1af059-02d5-5344-bd37-e960664de323/scratchpad/asics/icons/youtub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78447" y="4675327"/>
            <a:ext cx="241402" cy="241402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360920" y="4572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YouTube ゆるふわ</a:t>
            </a:r>
            <a:endParaRPr lang="en-US" sz="1450" dirty="0"/>
          </a:p>
        </p:txBody>
      </p:sp>
      <p:sp>
        <p:nvSpPr>
          <p:cNvPr id="36" name="Text 27"/>
          <p:cNvSpPr txBox="1"/>
          <p:nvPr/>
        </p:nvSpPr>
        <p:spPr>
          <a:xfrm>
            <a:off x="6647688" y="516636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チャンネルの企画・運用とサムネイル制作。秋元真夏さん、藤原紀香さんが出演。</a:t>
            </a:r>
            <a:endParaRPr lang="en-US" sz="1050" dirty="0"/>
          </a:p>
        </p:txBody>
      </p:sp>
      <p:sp>
        <p:nvSpPr>
          <p:cNvPr id="37" name="Shape 28"/>
          <p:cNvSpPr/>
          <p:nvPr/>
        </p:nvSpPr>
        <p:spPr>
          <a:xfrm>
            <a:off x="10058400" y="4507992"/>
            <a:ext cx="1490472" cy="1463040"/>
          </a:xfrm>
          <a:prstGeom prst="roundRect">
            <a:avLst>
              <a:gd name="adj" fmla="val 3750"/>
            </a:avLst>
          </a:prstGeom>
          <a:solidFill>
            <a:srgbClr val="DCE3EE"/>
          </a:solidFill>
          <a:ln/>
        </p:spPr>
      </p:sp>
      <p:sp>
        <p:nvSpPr>
          <p:cNvPr id="38" name="Shape 29"/>
          <p:cNvSpPr/>
          <p:nvPr/>
        </p:nvSpPr>
        <p:spPr>
          <a:xfrm>
            <a:off x="10593324" y="4919472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39" name="Image 7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02686" y="5028834"/>
            <a:ext cx="201900" cy="201900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10104120" y="5330952"/>
            <a:ext cx="1399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サムネイル画像を挿入</a:t>
            </a:r>
            <a:endParaRPr lang="en-US" sz="850" dirty="0"/>
          </a:p>
        </p:txBody>
      </p:sp>
      <p:sp>
        <p:nvSpPr>
          <p:cNvPr id="41" name="Text 31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※各アカウントの投稿画像・フォロワー数は素材の共有後に差し替えます。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113842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05  |  EVENT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イベントチーム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会場の下見から設営、当日運営まで、体験の場をまるごとつくります。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139696" cy="3977640"/>
          </a:xfrm>
          <a:prstGeom prst="roundRect">
            <a:avLst>
              <a:gd name="adj" fmla="val 3419"/>
            </a:avLst>
          </a:prstGeom>
          <a:solidFill>
            <a:srgbClr val="EEF3FB"/>
          </a:solidFill>
          <a:ln/>
        </p:spPr>
      </p:sp>
      <p:pic>
        <p:nvPicPr>
          <p:cNvPr id="6" name="Image 0" descr="/tmp/claude-0/-home-user-Claude-Code/5b1af059-02d5-5344-bd37-e960664de323/scratchpad/asics/photo_ev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30552"/>
            <a:ext cx="1810512" cy="1234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13232" y="350215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展示会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425196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ifca showroomでの2026AW展示会など、企画から運営まで。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07792" y="1965960"/>
            <a:ext cx="2139696" cy="3977640"/>
          </a:xfrm>
          <a:prstGeom prst="roundRect">
            <a:avLst>
              <a:gd name="adj" fmla="val 3419"/>
            </a:avLst>
          </a:prstGeom>
          <a:solidFill>
            <a:srgbClr val="EEF3FB"/>
          </a:solidFill>
          <a:ln/>
        </p:spPr>
      </p:sp>
      <p:sp>
        <p:nvSpPr>
          <p:cNvPr id="10" name="Shape 7"/>
          <p:cNvSpPr/>
          <p:nvPr/>
        </p:nvSpPr>
        <p:spPr>
          <a:xfrm>
            <a:off x="3072384" y="2130552"/>
            <a:ext cx="1810512" cy="1234440"/>
          </a:xfrm>
          <a:prstGeom prst="roundRect">
            <a:avLst>
              <a:gd name="adj" fmla="val 4444"/>
            </a:avLst>
          </a:prstGeom>
          <a:solidFill>
            <a:srgbClr val="DCE3EE"/>
          </a:solidFill>
          <a:ln/>
        </p:spPr>
      </p:sp>
      <p:sp>
        <p:nvSpPr>
          <p:cNvPr id="11" name="Shape 8"/>
          <p:cNvSpPr/>
          <p:nvPr/>
        </p:nvSpPr>
        <p:spPr>
          <a:xfrm>
            <a:off x="3767785" y="2428189"/>
            <a:ext cx="419710" cy="419710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12" name="Image 1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910" y="2537314"/>
            <a:ext cx="201461" cy="201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118104" y="283921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イベント写真を挿入</a:t>
            </a:r>
            <a:endParaRPr lang="en-US" sz="850" dirty="0"/>
          </a:p>
        </p:txBody>
      </p:sp>
      <p:sp>
        <p:nvSpPr>
          <p:cNvPr id="14" name="Text 10"/>
          <p:cNvSpPr txBox="1"/>
          <p:nvPr/>
        </p:nvSpPr>
        <p:spPr>
          <a:xfrm>
            <a:off x="3072384" y="350215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ワークマン様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072384" y="425196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過酷ファッションショーの開催・撮影。多くのメディアに掲載。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266944" y="1965960"/>
            <a:ext cx="2139696" cy="3977640"/>
          </a:xfrm>
          <a:prstGeom prst="roundRect">
            <a:avLst>
              <a:gd name="adj" fmla="val 3419"/>
            </a:avLst>
          </a:prstGeom>
          <a:solidFill>
            <a:srgbClr val="EEF3FB"/>
          </a:solidFill>
          <a:ln/>
        </p:spPr>
      </p:sp>
      <p:sp>
        <p:nvSpPr>
          <p:cNvPr id="17" name="Shape 13"/>
          <p:cNvSpPr/>
          <p:nvPr/>
        </p:nvSpPr>
        <p:spPr>
          <a:xfrm>
            <a:off x="5431536" y="2130552"/>
            <a:ext cx="1810512" cy="1234440"/>
          </a:xfrm>
          <a:prstGeom prst="roundRect">
            <a:avLst>
              <a:gd name="adj" fmla="val 4444"/>
            </a:avLst>
          </a:prstGeom>
          <a:solidFill>
            <a:srgbClr val="DCE3EE"/>
          </a:solidFill>
          <a:ln/>
        </p:spPr>
      </p:sp>
      <p:sp>
        <p:nvSpPr>
          <p:cNvPr id="18" name="Shape 14"/>
          <p:cNvSpPr/>
          <p:nvPr/>
        </p:nvSpPr>
        <p:spPr>
          <a:xfrm>
            <a:off x="6126937" y="2428189"/>
            <a:ext cx="419710" cy="419710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19" name="Image 2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062" y="2537314"/>
            <a:ext cx="201461" cy="20146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477256" y="283921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イベント写真を挿入</a:t>
            </a:r>
            <a:endParaRPr lang="en-US" sz="850" dirty="0"/>
          </a:p>
        </p:txBody>
      </p:sp>
      <p:sp>
        <p:nvSpPr>
          <p:cNvPr id="21" name="Text 16"/>
          <p:cNvSpPr txBox="1"/>
          <p:nvPr/>
        </p:nvSpPr>
        <p:spPr>
          <a:xfrm>
            <a:off x="5431536" y="350215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ハーレーダビッドソン様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5431536" y="425196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体験イベントの企画・運営。(内容を追記してください)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626096" y="1965960"/>
            <a:ext cx="2139696" cy="3977640"/>
          </a:xfrm>
          <a:prstGeom prst="roundRect">
            <a:avLst>
              <a:gd name="adj" fmla="val 3419"/>
            </a:avLst>
          </a:prstGeom>
          <a:solidFill>
            <a:srgbClr val="EEF3FB"/>
          </a:solidFill>
          <a:ln/>
        </p:spPr>
      </p:sp>
      <p:sp>
        <p:nvSpPr>
          <p:cNvPr id="24" name="Shape 19"/>
          <p:cNvSpPr/>
          <p:nvPr/>
        </p:nvSpPr>
        <p:spPr>
          <a:xfrm>
            <a:off x="7790688" y="2130552"/>
            <a:ext cx="1810512" cy="1234440"/>
          </a:xfrm>
          <a:prstGeom prst="roundRect">
            <a:avLst>
              <a:gd name="adj" fmla="val 4444"/>
            </a:avLst>
          </a:prstGeom>
          <a:solidFill>
            <a:srgbClr val="DCE3EE"/>
          </a:solidFill>
          <a:ln/>
        </p:spPr>
      </p:sp>
      <p:sp>
        <p:nvSpPr>
          <p:cNvPr id="25" name="Shape 20"/>
          <p:cNvSpPr/>
          <p:nvPr/>
        </p:nvSpPr>
        <p:spPr>
          <a:xfrm>
            <a:off x="8486089" y="2428189"/>
            <a:ext cx="419710" cy="419710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26" name="Image 3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214" y="2537314"/>
            <a:ext cx="201461" cy="20146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836408" y="283921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イベント写真を挿入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7790688" y="350215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ラジオパーク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7790688" y="425196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ブース出展・ステージ企画。(内容を追記してください)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9985248" y="1965960"/>
            <a:ext cx="2139696" cy="3977640"/>
          </a:xfrm>
          <a:prstGeom prst="roundRect">
            <a:avLst>
              <a:gd name="adj" fmla="val 3419"/>
            </a:avLst>
          </a:prstGeom>
          <a:solidFill>
            <a:srgbClr val="EEF3FB"/>
          </a:solidFill>
          <a:ln/>
        </p:spPr>
      </p:sp>
      <p:sp>
        <p:nvSpPr>
          <p:cNvPr id="31" name="Shape 25"/>
          <p:cNvSpPr/>
          <p:nvPr/>
        </p:nvSpPr>
        <p:spPr>
          <a:xfrm>
            <a:off x="10149840" y="2130552"/>
            <a:ext cx="1810512" cy="1234440"/>
          </a:xfrm>
          <a:prstGeom prst="roundRect">
            <a:avLst>
              <a:gd name="adj" fmla="val 4444"/>
            </a:avLst>
          </a:prstGeom>
          <a:solidFill>
            <a:srgbClr val="DCE3EE"/>
          </a:solidFill>
          <a:ln/>
        </p:spPr>
      </p:sp>
      <p:sp>
        <p:nvSpPr>
          <p:cNvPr id="32" name="Shape 26"/>
          <p:cNvSpPr/>
          <p:nvPr/>
        </p:nvSpPr>
        <p:spPr>
          <a:xfrm>
            <a:off x="10845241" y="2428189"/>
            <a:ext cx="419710" cy="419710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33" name="Image 4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4366" y="2537314"/>
            <a:ext cx="201461" cy="201461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0195560" y="2839212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イベント写真を挿入</a:t>
            </a:r>
            <a:endParaRPr lang="en-US" sz="850" dirty="0"/>
          </a:p>
        </p:txBody>
      </p:sp>
      <p:sp>
        <p:nvSpPr>
          <p:cNvPr id="35" name="Text 28"/>
          <p:cNvSpPr txBox="1"/>
          <p:nvPr/>
        </p:nvSpPr>
        <p:spPr>
          <a:xfrm>
            <a:off x="10149840" y="3502152"/>
            <a:ext cx="1810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イマジン様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10149840" y="4251960"/>
            <a:ext cx="181051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公開録音イベントの企画・運営。(内容を追記してください)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※写真・動画・数値は素材の共有後に差し替えます。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113842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06  |  MEDIA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メディアチーム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テレビから交通広告まで、届けたい相手に合わせて媒体を組み合わせます。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657600" cy="2084832"/>
          </a:xfrm>
          <a:prstGeom prst="roundRect">
            <a:avLst>
              <a:gd name="adj" fmla="val 3509"/>
            </a:avLst>
          </a:prstGeom>
          <a:solidFill>
            <a:srgbClr val="EEF3F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176272"/>
            <a:ext cx="475488" cy="475488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7" name="Image 0" descr="/tmp/claude-0/-home-user-Claude-Code/5b1af059-02d5-5344-bd37-e960664de323/scratchpad/asics/icons/t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299" y="2299899"/>
            <a:ext cx="228234" cy="2282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テレビ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834640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テレビ東京・日本テレビ・TBS・テレビ朝日・フジテレビ・BSフジで番組提供。番組公式SNSの運用も。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62272" y="1920240"/>
            <a:ext cx="3657600" cy="2084832"/>
          </a:xfrm>
          <a:prstGeom prst="roundRect">
            <a:avLst>
              <a:gd name="adj" fmla="val 3509"/>
            </a:avLst>
          </a:prstGeom>
          <a:solidFill>
            <a:srgbClr val="EEF3FB"/>
          </a:solidFill>
          <a:ln/>
        </p:spPr>
      </p:sp>
      <p:sp>
        <p:nvSpPr>
          <p:cNvPr id="11" name="Shape 8"/>
          <p:cNvSpPr/>
          <p:nvPr/>
        </p:nvSpPr>
        <p:spPr>
          <a:xfrm>
            <a:off x="4718304" y="2176272"/>
            <a:ext cx="475488" cy="475488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2" name="Image 1" descr="/tmp/claude-0/-home-user-Claude-Code/5b1af059-02d5-5344-bd37-e960664de323/scratchpad/asics/icons/radi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1931" y="2299899"/>
            <a:ext cx="228234" cy="22823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30952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ラジオ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718304" y="2834640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ニッポン放送・TOKYO FMで番組やコーナーを制作。全国ネットの生CMも展開。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375904" y="1920240"/>
            <a:ext cx="3657600" cy="2084832"/>
          </a:xfrm>
          <a:prstGeom prst="roundRect">
            <a:avLst>
              <a:gd name="adj" fmla="val 3509"/>
            </a:avLst>
          </a:prstGeom>
          <a:solidFill>
            <a:srgbClr val="EEF3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631936" y="2176272"/>
            <a:ext cx="475488" cy="475488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17" name="Image 2" descr="/tmp/claude-0/-home-user-Claude-Code/5b1af059-02d5-5344-bd37-e960664de323/scratchpad/asics/icons/filetex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563" y="2299899"/>
            <a:ext cx="228234" cy="22823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44584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新聞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631936" y="2834640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記事広告・純広告の企画と掲載。(実績を追記してください)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4279392"/>
            <a:ext cx="3657600" cy="2084832"/>
          </a:xfrm>
          <a:prstGeom prst="roundRect">
            <a:avLst>
              <a:gd name="adj" fmla="val 3509"/>
            </a:avLst>
          </a:prstGeom>
          <a:solidFill>
            <a:srgbClr val="EEF3FB"/>
          </a:solidFill>
          <a:ln/>
        </p:spPr>
      </p:sp>
      <p:sp>
        <p:nvSpPr>
          <p:cNvPr id="21" name="Shape 16"/>
          <p:cNvSpPr/>
          <p:nvPr/>
        </p:nvSpPr>
        <p:spPr>
          <a:xfrm>
            <a:off x="804672" y="4535424"/>
            <a:ext cx="475488" cy="475488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22" name="Image 3" descr="/tmp/claude-0/-home-user-Claude-Code/5b1af059-02d5-5344-bd37-e960664de323/scratchpad/asics/icons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99" y="4659051"/>
            <a:ext cx="228234" cy="22823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17320" y="45537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雑誌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804672" y="5193792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女性誌VERYでのタイアップ、メンズ誌RUDOとのコラボムービーなど。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462272" y="4279392"/>
            <a:ext cx="3657600" cy="2084832"/>
          </a:xfrm>
          <a:prstGeom prst="roundRect">
            <a:avLst>
              <a:gd name="adj" fmla="val 3509"/>
            </a:avLst>
          </a:prstGeom>
          <a:solidFill>
            <a:srgbClr val="EEF3FB"/>
          </a:solidFill>
          <a:ln/>
        </p:spPr>
      </p:sp>
      <p:sp>
        <p:nvSpPr>
          <p:cNvPr id="26" name="Shape 20"/>
          <p:cNvSpPr/>
          <p:nvPr/>
        </p:nvSpPr>
        <p:spPr>
          <a:xfrm>
            <a:off x="4718304" y="4535424"/>
            <a:ext cx="475488" cy="475488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27" name="Image 4" descr="/tmp/claude-0/-home-user-Claude-Code/5b1af059-02d5-5344-bd37-e960664de323/scratchpad/asics/icons/monito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1931" y="4659051"/>
            <a:ext cx="228234" cy="22823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330952" y="45537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4718304" y="5193792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LP制作、広告バナー、WEB CM。クリエイティブ提案から撮影まで一括で。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375904" y="4279392"/>
            <a:ext cx="3657600" cy="2084832"/>
          </a:xfrm>
          <a:prstGeom prst="roundRect">
            <a:avLst>
              <a:gd name="adj" fmla="val 3509"/>
            </a:avLst>
          </a:prstGeom>
          <a:solidFill>
            <a:srgbClr val="EEF3FB"/>
          </a:solidFill>
          <a:ln/>
        </p:spPr>
      </p:sp>
      <p:sp>
        <p:nvSpPr>
          <p:cNvPr id="31" name="Shape 24"/>
          <p:cNvSpPr/>
          <p:nvPr/>
        </p:nvSpPr>
        <p:spPr>
          <a:xfrm>
            <a:off x="8631936" y="4535424"/>
            <a:ext cx="475488" cy="475488"/>
          </a:xfrm>
          <a:prstGeom prst="ellipse">
            <a:avLst/>
          </a:prstGeom>
          <a:solidFill>
            <a:srgbClr val="0033A0"/>
          </a:solidFill>
          <a:ln/>
        </p:spPr>
      </p:sp>
      <p:pic>
        <p:nvPicPr>
          <p:cNvPr id="32" name="Image 5" descr="/tmp/claude-0/-home-user-Claude-Code/5b1af059-02d5-5344-bd37-e960664de323/scratchpad/asics/icons/navigat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5563" y="4659051"/>
            <a:ext cx="228234" cy="22823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244584" y="455371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交通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631936" y="5193792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電車内サイネージでのCM放映、上野大型ビジョン、駅サイネージ広告。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113842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 |  ASICS TRADING — STILL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アシックス商事様  静止画実績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ブランドビジュアル、店頭販促物、マガジンなどの静止画クリエイティブを制作しています。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EEF3F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2359152" cy="1965960"/>
          </a:xfrm>
          <a:prstGeom prst="roundRect">
            <a:avLst>
              <a:gd name="adj" fmla="val 2791"/>
            </a:avLst>
          </a:prstGeom>
          <a:solidFill>
            <a:srgbClr val="DCE3EE"/>
          </a:solidFill>
          <a:ln/>
        </p:spPr>
      </p:sp>
      <p:sp>
        <p:nvSpPr>
          <p:cNvPr id="7" name="Shape 5"/>
          <p:cNvSpPr/>
          <p:nvPr/>
        </p:nvSpPr>
        <p:spPr>
          <a:xfrm>
            <a:off x="1700784" y="281178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8" name="Image 0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146" y="2921142"/>
            <a:ext cx="201900" cy="201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2232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AZフォルダの画像を挿入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2519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AcureZ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663440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ブランドビジュアル・店頭展開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20440" y="196596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EEF3FB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2148840"/>
            <a:ext cx="2359152" cy="1965960"/>
          </a:xfrm>
          <a:prstGeom prst="roundRect">
            <a:avLst>
              <a:gd name="adj" fmla="val 2791"/>
            </a:avLst>
          </a:prstGeom>
          <a:solidFill>
            <a:srgbClr val="DCE3EE"/>
          </a:solidFill>
          <a:ln/>
        </p:spPr>
      </p:sp>
      <p:sp>
        <p:nvSpPr>
          <p:cNvPr id="14" name="Shape 11"/>
          <p:cNvSpPr/>
          <p:nvPr/>
        </p:nvSpPr>
        <p:spPr>
          <a:xfrm>
            <a:off x="4672584" y="281178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15" name="Image 1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946" y="2921142"/>
            <a:ext cx="201900" cy="201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749040" y="32232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LOフォルダの画像を挿入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3703320" y="42519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LADY WORKER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703320" y="4663440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ビジュアル・販促物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92240" y="196596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EEF3FB"/>
          </a:solidFill>
          <a:ln/>
        </p:spPr>
      </p:sp>
      <p:sp>
        <p:nvSpPr>
          <p:cNvPr id="20" name="Shape 16"/>
          <p:cNvSpPr/>
          <p:nvPr/>
        </p:nvSpPr>
        <p:spPr>
          <a:xfrm>
            <a:off x="6675120" y="2148840"/>
            <a:ext cx="2359152" cy="1965960"/>
          </a:xfrm>
          <a:prstGeom prst="roundRect">
            <a:avLst>
              <a:gd name="adj" fmla="val 2791"/>
            </a:avLst>
          </a:prstGeom>
          <a:solidFill>
            <a:srgbClr val="DCE3EE"/>
          </a:solidFill>
          <a:ln/>
        </p:spPr>
      </p:sp>
      <p:sp>
        <p:nvSpPr>
          <p:cNvPr id="21" name="Shape 17"/>
          <p:cNvSpPr/>
          <p:nvPr/>
        </p:nvSpPr>
        <p:spPr>
          <a:xfrm>
            <a:off x="7644384" y="281178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22" name="Image 2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746" y="2921142"/>
            <a:ext cx="201900" cy="2019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720840" y="32232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TLフォルダの画像を挿入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6675120" y="42519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texcy luxe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6675120" y="4663440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赤・黒・白を基調にマガジン、店頭販促物までデザイン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464040" y="196596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EEF3FB"/>
          </a:solidFill>
          <a:ln/>
        </p:spPr>
      </p:sp>
      <p:sp>
        <p:nvSpPr>
          <p:cNvPr id="27" name="Shape 22"/>
          <p:cNvSpPr/>
          <p:nvPr/>
        </p:nvSpPr>
        <p:spPr>
          <a:xfrm>
            <a:off x="9646920" y="2148840"/>
            <a:ext cx="2359152" cy="1965960"/>
          </a:xfrm>
          <a:prstGeom prst="roundRect">
            <a:avLst>
              <a:gd name="adj" fmla="val 2791"/>
            </a:avLst>
          </a:prstGeom>
          <a:solidFill>
            <a:srgbClr val="DCE3EE"/>
          </a:solidFill>
          <a:ln/>
        </p:spPr>
      </p:sp>
      <p:sp>
        <p:nvSpPr>
          <p:cNvPr id="28" name="Shape 23"/>
          <p:cNvSpPr/>
          <p:nvPr/>
        </p:nvSpPr>
        <p:spPr>
          <a:xfrm>
            <a:off x="10616184" y="281178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29" name="Image 3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5546" y="2921142"/>
            <a:ext cx="201900" cy="2019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692640" y="32232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AWKフォルダの画像を挿入</a:t>
            </a:r>
            <a:endParaRPr 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9646920" y="42519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ASICS WALKING</a:t>
            </a:r>
            <a:endParaRPr lang="en-US" sz="1450" dirty="0"/>
          </a:p>
        </p:txBody>
      </p:sp>
      <p:sp>
        <p:nvSpPr>
          <p:cNvPr id="32" name="Text 26"/>
          <p:cNvSpPr txBox="1"/>
          <p:nvPr/>
        </p:nvSpPr>
        <p:spPr>
          <a:xfrm>
            <a:off x="9646920" y="4663440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RUNWALK / GB / PEDALA の各ライン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※各フォルダの画像素材を共有いただき次第、差し替えます。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3842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 |  ASICS TRADING — MOVIE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アシックス商事様  動画実績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CM動画は30秒・60秒で制作。texcy luxeは販売店舗のある沿線、サラリーマン乗車率の高い路線・駅で放映しました。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EEF3FB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48840"/>
            <a:ext cx="2359152" cy="1965960"/>
          </a:xfrm>
          <a:prstGeom prst="roundRect">
            <a:avLst>
              <a:gd name="adj" fmla="val 2791"/>
            </a:avLst>
          </a:prstGeom>
          <a:solidFill>
            <a:srgbClr val="DCE3EE"/>
          </a:solidFill>
          <a:ln/>
        </p:spPr>
      </p:sp>
      <p:sp>
        <p:nvSpPr>
          <p:cNvPr id="7" name="Shape 5"/>
          <p:cNvSpPr/>
          <p:nvPr/>
        </p:nvSpPr>
        <p:spPr>
          <a:xfrm>
            <a:off x="1700784" y="281178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8" name="Image 0" descr="/tmp/claude-0/-home-user-Claude-Code/5b1af059-02d5-5344-bd37-e960664de323/scratchpad/asics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146" y="2921142"/>
            <a:ext cx="201900" cy="2019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2232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AZフォルダの動画キャプチャを挿入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2519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AcureZ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4663440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60秒プロモーション動画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520440" y="196596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EEF3FB"/>
          </a:solidFill>
          <a:ln/>
        </p:spPr>
      </p:sp>
      <p:sp>
        <p:nvSpPr>
          <p:cNvPr id="13" name="Shape 10"/>
          <p:cNvSpPr/>
          <p:nvPr/>
        </p:nvSpPr>
        <p:spPr>
          <a:xfrm>
            <a:off x="3703320" y="2148840"/>
            <a:ext cx="2359152" cy="1965960"/>
          </a:xfrm>
          <a:prstGeom prst="roundRect">
            <a:avLst>
              <a:gd name="adj" fmla="val 2791"/>
            </a:avLst>
          </a:prstGeom>
          <a:solidFill>
            <a:srgbClr val="DCE3EE"/>
          </a:solidFill>
          <a:ln/>
        </p:spPr>
      </p:sp>
      <p:sp>
        <p:nvSpPr>
          <p:cNvPr id="14" name="Shape 11"/>
          <p:cNvSpPr/>
          <p:nvPr/>
        </p:nvSpPr>
        <p:spPr>
          <a:xfrm>
            <a:off x="4672584" y="281178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15" name="Image 1" descr="/tmp/claude-0/-home-user-Claude-Code/5b1af059-02d5-5344-bd37-e960664de323/scratchpad/asics/icons/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1946" y="2921142"/>
            <a:ext cx="201900" cy="2019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749040" y="32232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LOフォルダの動画キャプチャを挿入</a:t>
            </a:r>
            <a:endParaRPr lang="en-US" sz="850" dirty="0"/>
          </a:p>
        </p:txBody>
      </p:sp>
      <p:sp>
        <p:nvSpPr>
          <p:cNvPr id="17" name="Text 13"/>
          <p:cNvSpPr txBox="1"/>
          <p:nvPr/>
        </p:nvSpPr>
        <p:spPr>
          <a:xfrm>
            <a:off x="3703320" y="42519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LADY WORKER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3703320" y="4663440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プロモーション動画(本日素材手配中)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6492240" y="196596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EEF3FB"/>
          </a:solidFill>
          <a:ln/>
        </p:spPr>
      </p:sp>
      <p:sp>
        <p:nvSpPr>
          <p:cNvPr id="20" name="Shape 16"/>
          <p:cNvSpPr/>
          <p:nvPr/>
        </p:nvSpPr>
        <p:spPr>
          <a:xfrm>
            <a:off x="6675120" y="2148840"/>
            <a:ext cx="2359152" cy="1965960"/>
          </a:xfrm>
          <a:prstGeom prst="roundRect">
            <a:avLst>
              <a:gd name="adj" fmla="val 2791"/>
            </a:avLst>
          </a:prstGeom>
          <a:solidFill>
            <a:srgbClr val="DCE3EE"/>
          </a:solidFill>
          <a:ln/>
        </p:spPr>
      </p:sp>
      <p:sp>
        <p:nvSpPr>
          <p:cNvPr id="21" name="Shape 17"/>
          <p:cNvSpPr/>
          <p:nvPr/>
        </p:nvSpPr>
        <p:spPr>
          <a:xfrm>
            <a:off x="7644384" y="281178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22" name="Image 2" descr="/tmp/claude-0/-home-user-Claude-Code/5b1af059-02d5-5344-bd37-e960664de323/scratchpad/asics/icons/pla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746" y="2921142"/>
            <a:ext cx="201900" cy="2019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720840" y="32232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TLフォルダの動画キャプチャを挿入</a:t>
            </a:r>
            <a:endParaRPr lang="en-US" sz="850" dirty="0"/>
          </a:p>
        </p:txBody>
      </p:sp>
      <p:sp>
        <p:nvSpPr>
          <p:cNvPr id="24" name="Text 19"/>
          <p:cNvSpPr txBox="1"/>
          <p:nvPr/>
        </p:nvSpPr>
        <p:spPr>
          <a:xfrm>
            <a:off x="6675120" y="42519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texcy luxe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6675120" y="4663440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60秒動画。スニーカーのような履き心地を、激しいダンスで表現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464040" y="1965960"/>
            <a:ext cx="2724912" cy="3977640"/>
          </a:xfrm>
          <a:prstGeom prst="roundRect">
            <a:avLst>
              <a:gd name="adj" fmla="val 2685"/>
            </a:avLst>
          </a:prstGeom>
          <a:solidFill>
            <a:srgbClr val="EEF3FB"/>
          </a:solidFill>
          <a:ln/>
        </p:spPr>
      </p:sp>
      <p:sp>
        <p:nvSpPr>
          <p:cNvPr id="27" name="Shape 22"/>
          <p:cNvSpPr/>
          <p:nvPr/>
        </p:nvSpPr>
        <p:spPr>
          <a:xfrm>
            <a:off x="9646920" y="2148840"/>
            <a:ext cx="2359152" cy="1965960"/>
          </a:xfrm>
          <a:prstGeom prst="roundRect">
            <a:avLst>
              <a:gd name="adj" fmla="val 2791"/>
            </a:avLst>
          </a:prstGeom>
          <a:solidFill>
            <a:srgbClr val="DCE3EE"/>
          </a:solidFill>
          <a:ln/>
        </p:spPr>
      </p:sp>
      <p:sp>
        <p:nvSpPr>
          <p:cNvPr id="28" name="Shape 23"/>
          <p:cNvSpPr/>
          <p:nvPr/>
        </p:nvSpPr>
        <p:spPr>
          <a:xfrm>
            <a:off x="10616184" y="281178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29" name="Image 3" descr="/tmp/claude-0/-home-user-Claude-Code/5b1af059-02d5-5344-bd37-e960664de323/scratchpad/asics/icons/pla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5546" y="2921142"/>
            <a:ext cx="201900" cy="20190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692640" y="3223260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AWKフォルダの動画キャプチャを挿入</a:t>
            </a:r>
            <a:endParaRPr 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9646920" y="425196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ASICS WALKING</a:t>
            </a:r>
            <a:endParaRPr lang="en-US" sz="1450" dirty="0"/>
          </a:p>
        </p:txBody>
      </p:sp>
      <p:sp>
        <p:nvSpPr>
          <p:cNvPr id="32" name="Text 26"/>
          <p:cNvSpPr txBox="1"/>
          <p:nvPr/>
        </p:nvSpPr>
        <p:spPr>
          <a:xfrm>
            <a:off x="9646920" y="4663440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RUNWALK / GB / PEDALA / AWKmove</a:t>
            </a:r>
            <a:endParaRPr lang="en-US" sz="105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※各フォルダの動画素材を共有いただき次第、キャプチャと二次元コード等に差し替えます。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3842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362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07  |  ASICS TRADING — OTHER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アシックス商事様  イベント・ショールーム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2128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texcy luxe 15周年記念プロジェクト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1518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発売15周年を記念したプロジェクトを展開。記念クリエイティブの制作から参画しました。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37673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LADY WORKER イベント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416966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(内容を追記してください)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5166360"/>
            <a:ext cx="5394960" cy="1051560"/>
          </a:xfrm>
          <a:prstGeom prst="roundRect">
            <a:avLst>
              <a:gd name="adj" fmla="val 5217"/>
            </a:avLst>
          </a:prstGeom>
          <a:solidFill>
            <a:srgbClr val="DCE3EE"/>
          </a:solidFill>
          <a:ln/>
        </p:spPr>
      </p:sp>
      <p:sp>
        <p:nvSpPr>
          <p:cNvPr id="12" name="Shape 10"/>
          <p:cNvSpPr/>
          <p:nvPr/>
        </p:nvSpPr>
        <p:spPr>
          <a:xfrm>
            <a:off x="3067355" y="5403647"/>
            <a:ext cx="357530" cy="357530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13" name="Image 0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0313" y="5496605"/>
            <a:ext cx="171615" cy="171615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94360" y="57835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15周年・イベントの写真を挿入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ショールーム・掲載実績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1965960"/>
            <a:ext cx="5349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ifca showroomでtexcy luxe・AcureZを展示。ショウルームのデザインもブランドカラーに合わせて設計しています。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309360" y="2743200"/>
            <a:ext cx="2606040" cy="1645920"/>
          </a:xfrm>
          <a:prstGeom prst="roundRect">
            <a:avLst>
              <a:gd name="adj" fmla="val 3333"/>
            </a:avLst>
          </a:prstGeom>
          <a:solidFill>
            <a:srgbClr val="DCE3EE"/>
          </a:solidFill>
          <a:ln/>
        </p:spPr>
      </p:sp>
      <p:sp>
        <p:nvSpPr>
          <p:cNvPr id="18" name="Shape 15"/>
          <p:cNvSpPr/>
          <p:nvPr/>
        </p:nvSpPr>
        <p:spPr>
          <a:xfrm>
            <a:off x="7402068" y="324612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19" name="Image 1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1430" y="3355482"/>
            <a:ext cx="201900" cy="2019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355080" y="36576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texcy luxe展示の写真を挿入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052560" y="2743200"/>
            <a:ext cx="2606040" cy="1645920"/>
          </a:xfrm>
          <a:prstGeom prst="roundRect">
            <a:avLst>
              <a:gd name="adj" fmla="val 3333"/>
            </a:avLst>
          </a:prstGeom>
          <a:solidFill>
            <a:srgbClr val="DCE3EE"/>
          </a:solidFill>
          <a:ln/>
        </p:spPr>
      </p:sp>
      <p:sp>
        <p:nvSpPr>
          <p:cNvPr id="22" name="Shape 18"/>
          <p:cNvSpPr/>
          <p:nvPr/>
        </p:nvSpPr>
        <p:spPr>
          <a:xfrm>
            <a:off x="10145268" y="324612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23" name="Image 2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4630" y="3355482"/>
            <a:ext cx="201900" cy="20190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9098280" y="36576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AcureZ展示の写真を挿入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309360" y="4572000"/>
            <a:ext cx="5349240" cy="1645920"/>
          </a:xfrm>
          <a:prstGeom prst="roundRect">
            <a:avLst>
              <a:gd name="adj" fmla="val 3333"/>
            </a:avLst>
          </a:prstGeom>
          <a:solidFill>
            <a:srgbClr val="DCE3EE"/>
          </a:solidFill>
          <a:ln/>
        </p:spPr>
      </p:sp>
      <p:sp>
        <p:nvSpPr>
          <p:cNvPr id="26" name="Shape 21"/>
          <p:cNvSpPr/>
          <p:nvPr/>
        </p:nvSpPr>
        <p:spPr>
          <a:xfrm>
            <a:off x="8773668" y="5074920"/>
            <a:ext cx="420624" cy="420624"/>
          </a:xfrm>
          <a:prstGeom prst="ellipse">
            <a:avLst/>
          </a:prstGeom>
          <a:solidFill>
            <a:srgbClr val="9FADC6"/>
          </a:solidFill>
          <a:ln/>
        </p:spPr>
      </p:sp>
      <p:pic>
        <p:nvPicPr>
          <p:cNvPr id="27" name="Image 3" descr="/tmp/claude-0/-home-user-Claude-Code/5b1af059-02d5-5344-bd37-e960664de323/scratchpad/asics/icons/camer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030" y="5184282"/>
            <a:ext cx="201900" cy="20190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355080" y="548640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メディア掲載実績の画像を挿入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11384280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840480"/>
            <a:ext cx="5486400" cy="5486400"/>
          </a:xfrm>
          <a:prstGeom prst="ellipse">
            <a:avLst/>
          </a:prstGeom>
          <a:solidFill>
            <a:srgbClr val="0033A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-2377440"/>
            <a:ext cx="4754880" cy="4754880"/>
          </a:xfrm>
          <a:prstGeom prst="ellipse">
            <a:avLst/>
          </a:prstGeom>
          <a:solidFill>
            <a:srgbClr val="2B5CC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78440" y="2514600"/>
            <a:ext cx="457200" cy="457200"/>
          </a:xfrm>
          <a:prstGeom prst="ellipse">
            <a:avLst/>
          </a:prstGeom>
          <a:solidFill>
            <a:srgbClr val="E8362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0312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次の企画を、ご一緒させてください。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各実績の詳細資料や制作物の実物は、お打ち合わせの際にご覧いただけます。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D8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アシックス様の課題に合わせたご提案をお持ちします。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E8362D"/>
          </a:solidFill>
          <a:ln/>
        </p:spPr>
      </p:sp>
      <p:pic>
        <p:nvPicPr>
          <p:cNvPr id="8" name="Image 0" descr="/tmp/claude-0/-home-user-Claude-Code/5b1af059-02d5-5344-bd37-e960664de323/scratchpad/asics/icons/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479419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0876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お問い合わせ  |  企画・宣伝協同組合  担当 ○○   xxx@example.co.jp   03-XXXX-XXXX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6263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8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※連絡先はダミーです。写真・動画枠は素材の共有後に差し替えます。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2026-09-14T07:03:50Z</dcterms:created>
  <dcterms:modified xsi:type="dcterms:W3CDTF">2026-09-14T07:03:50Z</dcterms:modified>
</cp:coreProperties>
</file>