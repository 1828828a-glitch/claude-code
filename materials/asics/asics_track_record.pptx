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表紙。社名・日付を差し替えてください。数値・施策内容はサンプルです。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png"/><Relationship Id="rId5" Type="http://schemas.openxmlformats.org/officeDocument/2006/relationships/image" Target="../media/image-5-5.jp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011680"/>
            <a:ext cx="5669280" cy="5669280"/>
          </a:xfrm>
          <a:prstGeom prst="ellipse">
            <a:avLst/>
          </a:prstGeom>
          <a:solidFill>
            <a:srgbClr val="0033A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566160"/>
            <a:ext cx="4206240" cy="4206240"/>
          </a:xfrm>
          <a:prstGeom prst="ellipse">
            <a:avLst/>
          </a:prstGeom>
          <a:solidFill>
            <a:srgbClr val="2B5CC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89720" y="4206240"/>
            <a:ext cx="502920" cy="502920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PLANNING &amp; PROMOTION  |  TRACK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アシックス様 御中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企画・宣伝 実績のご紹介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ショールーム・SNS・イベントまで、一気通貫のプロモーション支援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株式会社〇〇(貴社名)   |   2026年9月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 |  ABOUT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企画・宣伝とは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商品の魅力を、売場・メディア・体験の場まで届けきる仕事です。企画立案から制作・運営まで社内で完結できる体制が私たちの持ち味です。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6" name="Image 0" descr="/tmp/claude-0/-home-user-Claude-Code/5b1af059-02d5-5344-bd37-e960664de323/scratchpad/asics/icons/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2743932"/>
            <a:ext cx="254569" cy="2545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56946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企画から実施まで一気通貫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916936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戦略設計・クリエイティブ制作・当日運営までワンチームで担当します。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84048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0" name="Image 1" descr="/tmp/claude-0/-home-user-Claude-Code/5b1af059-02d5-5344-bd37-e960664de323/scratchpad/asics/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3978372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98448" y="380390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生活者目線の企画力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1298448" y="4151376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店頭やSNSでの反応を日々見ているからこそ、届く企画がつくれます。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507492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4" name="Image 2" descr="/tmp/claude-0/-home-user-Claude-Code/5b1af059-02d5-5344-bd37-e960664de323/scratchpad/asics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5212812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98448" y="50383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実行後の検証まで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1298448" y="5385816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来場数や反応データを振り返り、次の施策へつなげます。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040880" y="1463040"/>
            <a:ext cx="4617720" cy="4846320"/>
          </a:xfrm>
          <a:prstGeom prst="roundRect">
            <a:avLst>
              <a:gd name="adj" fmla="val 2376"/>
            </a:avLst>
          </a:prstGeom>
          <a:solidFill>
            <a:srgbClr val="EEF3FB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40664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本日ご紹介する内容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406640" y="2331720"/>
            <a:ext cx="384048" cy="38404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406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7936992" y="2350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企画・宣伝とは(概要)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406640" y="2953512"/>
            <a:ext cx="384048" cy="38404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40664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936992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  ワークマン様・西川様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7406640" y="3575304"/>
            <a:ext cx="384048" cy="38404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740664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936992" y="35935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ショールーム運営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406640" y="4197096"/>
            <a:ext cx="384048" cy="38404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40664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936992" y="421538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SNS運用</a:t>
            </a:r>
            <a:endParaRPr lang="en-US" sz="1250" dirty="0"/>
          </a:p>
        </p:txBody>
      </p:sp>
      <p:sp>
        <p:nvSpPr>
          <p:cNvPr id="31" name="Shape 26"/>
          <p:cNvSpPr/>
          <p:nvPr/>
        </p:nvSpPr>
        <p:spPr>
          <a:xfrm>
            <a:off x="7406640" y="4818888"/>
            <a:ext cx="384048" cy="38404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7406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7936992" y="48371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イベントプロモーション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7406640" y="5440680"/>
            <a:ext cx="384048" cy="384048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06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936992" y="54589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アシックス商事様との取り組み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| 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  ワークマン様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 20XX年〜継続中  |  領域 店頭販促・キャンペーン企画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4937760" cy="2743200"/>
          </a:xfrm>
          <a:prstGeom prst="roundRect">
            <a:avLst>
              <a:gd name="adj" fmla="val 2667"/>
            </a:avLst>
          </a:prstGeom>
          <a:solidFill>
            <a:srgbClr val="DCE3EE"/>
          </a:solidFill>
          <a:ln/>
        </p:spPr>
      </p:sp>
      <p:sp>
        <p:nvSpPr>
          <p:cNvPr id="6" name="Shape 4"/>
          <p:cNvSpPr/>
          <p:nvPr/>
        </p:nvSpPr>
        <p:spPr>
          <a:xfrm>
            <a:off x="2788920" y="2889504"/>
            <a:ext cx="457200" cy="457200"/>
          </a:xfrm>
          <a:prstGeom prst="ellipse">
            <a:avLst/>
          </a:prstGeom>
          <a:solidFill>
            <a:srgbClr val="9FADC6"/>
          </a:solidFill>
          <a:ln/>
        </p:spPr>
      </p:sp>
      <p:pic>
        <p:nvPicPr>
          <p:cNvPr id="7" name="Image 0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2" y="3008376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施策の写真・制作物を挿入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取り組み内容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23036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季節キャンペーンの企画・店頭販促物の制作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新商品発売にあわせた売場づくりのご提案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チラシ・POP・什器まわりの一括制作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26480" y="1874520"/>
            <a:ext cx="5532120" cy="1298448"/>
          </a:xfrm>
          <a:prstGeom prst="roundRect">
            <a:avLst>
              <a:gd name="adj" fmla="val 7042"/>
            </a:avLst>
          </a:prstGeom>
          <a:solidFill>
            <a:srgbClr val="0B1F4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20391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対象店舗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2587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全国展開のキャンペーンを支援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03920" y="1874520"/>
            <a:ext cx="2697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XXX店舗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6126480" y="3355848"/>
            <a:ext cx="5532120" cy="1298448"/>
          </a:xfrm>
          <a:prstGeom prst="roundRect">
            <a:avLst>
              <a:gd name="adj" fmla="val 7042"/>
            </a:avLst>
          </a:prstGeom>
          <a:solidFill>
            <a:srgbClr val="EEF3F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92240" y="35204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キャンペーン経由の売上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前年同期間との比較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3355848"/>
            <a:ext cx="2697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+XX%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6126480" y="4837176"/>
            <a:ext cx="5532120" cy="1298448"/>
          </a:xfrm>
          <a:prstGeom prst="roundRect">
            <a:avLst>
              <a:gd name="adj" fmla="val 7042"/>
            </a:avLst>
          </a:prstGeom>
          <a:solidFill>
            <a:srgbClr val="EEF3F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92240" y="50017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制作物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5550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POP・チラシ・什器ほか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4837176"/>
            <a:ext cx="2697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 XXX点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| 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  西川様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 20XX年〜20XX年  |  領域 ブランドプロモーション・売場体験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取り組み内容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58568"/>
            <a:ext cx="5212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睡眠をテーマにした体験型プロモーションの企画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百貨店・直営店での売場演出と接客ツール制作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季節催事にあわせたノベルティ・パッケージ企画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0B1F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7947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体験イベント来場者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379476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XX,XXX名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5212080" cy="1051560"/>
          </a:xfrm>
          <a:prstGeom prst="roundRect">
            <a:avLst>
              <a:gd name="adj" fmla="val 8696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502920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売場での購入率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50292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+X.Xpt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09360" y="1874520"/>
            <a:ext cx="5349240" cy="4069080"/>
          </a:xfrm>
          <a:prstGeom prst="roundRect">
            <a:avLst>
              <a:gd name="adj" fmla="val 1798"/>
            </a:avLst>
          </a:prstGeom>
          <a:solidFill>
            <a:srgbClr val="DCE3EE"/>
          </a:solidFill>
          <a:ln/>
        </p:spPr>
      </p:sp>
      <p:sp>
        <p:nvSpPr>
          <p:cNvPr id="14" name="Shape 12"/>
          <p:cNvSpPr/>
          <p:nvPr/>
        </p:nvSpPr>
        <p:spPr>
          <a:xfrm>
            <a:off x="8755380" y="3552444"/>
            <a:ext cx="457200" cy="457200"/>
          </a:xfrm>
          <a:prstGeom prst="ellipse">
            <a:avLst/>
          </a:prstGeom>
          <a:solidFill>
            <a:srgbClr val="9FADC6"/>
          </a:solidFill>
          <a:ln/>
        </p:spPr>
      </p:sp>
      <p:pic>
        <p:nvPicPr>
          <p:cNvPr id="15" name="Image 0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4252" y="3671316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309360" y="4055364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売場・イベントの写真を挿入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 |  SHOWROOM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ショールーム運営  ifca showroom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自社ショールーム ifca showroom を運営。直近では2026AW展示会を8月26日・27日に開催しました(写真は会場の様子)。</a:t>
            </a:r>
            <a:endParaRPr lang="en-US" sz="1300" dirty="0"/>
          </a:p>
        </p:txBody>
      </p:sp>
      <p:pic>
        <p:nvPicPr>
          <p:cNvPr id="5" name="Image 0" descr="/tmp/claude-0/-home-user-Claude-Code/5b1af059-02d5-5344-bd37-e960664de323/scratchpad/asics/photo_s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3657600" cy="1920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7" name="Image 1" descr="/tmp/claude-0/-home-user-Claude-Code/5b1af059-02d5-5344-bd37-e960664de323/scratchpad/asics/icons/map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42336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41788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企画・展示構成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6908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シーズンごとのテーマ設計と展示替え。来場目的に合わせた動線をつくります。</a:t>
            </a:r>
            <a:endParaRPr lang="en-US" sz="1100" dirty="0"/>
          </a:p>
        </p:txBody>
      </p:sp>
      <p:pic>
        <p:nvPicPr>
          <p:cNvPr id="10" name="Image 2" descr="/tmp/claude-0/-home-user-Claude-Code/5b1af059-02d5-5344-bd37-e960664de323/scratchpad/asics/photo_sr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965960"/>
            <a:ext cx="3657600" cy="19202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462272" y="411480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2" name="Image 3" descr="/tmp/claude-0/-home-user-Claude-Code/5b1af059-02d5-5344-bd37-e960664de323/scratchpad/asics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4233672"/>
            <a:ext cx="219456" cy="219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056632" y="41788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接客・運営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4462272" y="46908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常駐スタッフによるご案内と商談対応。バイヤー向けの内覧会も運営します。</a:t>
            </a:r>
            <a:endParaRPr lang="en-US" sz="1100" dirty="0"/>
          </a:p>
        </p:txBody>
      </p:sp>
      <p:pic>
        <p:nvPicPr>
          <p:cNvPr id="15" name="Image 4" descr="/tmp/claude-0/-home-user-Claude-Code/5b1af059-02d5-5344-bd37-e960664de323/scratchpad/asics/photo_sr3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4" y="1965960"/>
            <a:ext cx="3657600" cy="192024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8375904" y="411480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7" name="Image 5" descr="/tmp/claude-0/-home-user-Claude-Code/5b1af059-02d5-5344-bd37-e960664de323/scratchpad/asics/icons/clipbo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4776" y="4233672"/>
            <a:ext cx="219456" cy="219456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8970264" y="41788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来場データの活用</a:t>
            </a:r>
            <a:endParaRPr lang="en-US" sz="1400" dirty="0"/>
          </a:p>
        </p:txBody>
      </p:sp>
      <p:sp>
        <p:nvSpPr>
          <p:cNvPr id="19" name="Text 11"/>
          <p:cNvSpPr txBox="1"/>
          <p:nvPr/>
        </p:nvSpPr>
        <p:spPr>
          <a:xfrm>
            <a:off x="8375904" y="46908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来場者アンケートと商談記録を集計し、展示・商品開発へフィードバック。</a:t>
            </a:r>
            <a:endParaRPr lang="en-US" sz="1100" dirty="0"/>
          </a:p>
        </p:txBody>
      </p:sp>
      <p:sp>
        <p:nvSpPr>
          <p:cNvPr id="20" name="Text 12"/>
          <p:cNvSpPr txBox="1"/>
          <p:nvPr/>
        </p:nvSpPr>
        <p:spPr>
          <a:xfrm>
            <a:off x="548640" y="5806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年間来場者  </a:t>
            </a:r>
            <a:pPr indent="0" marL="0">
              <a:buNone/>
            </a:pPr>
            <a:r>
              <a:rPr lang="en-US" sz="20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X,XXX名</a:t>
            </a:r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商談につながった割合  </a:t>
            </a:r>
            <a:pPr indent="0" marL="0">
              <a:buNone/>
            </a:pPr>
            <a:r>
              <a:rPr lang="en-US" sz="20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XX%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 |  SOCIAL MEDIA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SNS運用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企画・撮影・投稿・分析まで運用を一括でお引き受けしています。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258568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7" name="Image 0" descr="/tmp/claude-0/-home-user-Claude-Code/5b1af059-02d5-5344-bd37-e960664de323/scratchpad/asics/icons/mes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140" y="23964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3134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ワークマン様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80360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新商品情報と着用シーンの発信。ユーザー投稿を活かした企画で拡散を後押し。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502152"/>
            <a:ext cx="4901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 XX万人   |   エンゲージ率 X.X%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55080" y="1965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2258568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3" name="Image 1" descr="/tmp/claude-0/-home-user-Claude-Code/5b1af059-02d5-5344-bd37-e960664de323/scratchpad/asics/icons/thumbs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580" y="23964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23134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青山商事様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647688" y="2880360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ビジネスウェアの着こなし提案を継続発信。就活・新社会人向け企画が好評。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647688" y="3502152"/>
            <a:ext cx="4901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 XX万人   |   リーチ 月間XXX万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4251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" y="4544568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9" name="Image 2" descr="/tmp/claude-0/-home-user-Claude-Code/5b1af059-02d5-5344-bd37-e960664de323/scratchpad/asics/icon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140" y="46824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45994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JAタウン様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41248" y="5166360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産地directの食材の魅力を発信。生産者を取材したコンテンツを制作。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41248" y="5788152"/>
            <a:ext cx="4901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 XX万人   |   EC流入 月間XX万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355080" y="4251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24" name="Shape 19"/>
          <p:cNvSpPr/>
          <p:nvPr/>
        </p:nvSpPr>
        <p:spPr>
          <a:xfrm>
            <a:off x="6647688" y="4544568"/>
            <a:ext cx="530352" cy="530352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25" name="Image 3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580" y="4682460"/>
            <a:ext cx="254569" cy="25456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06640" y="45994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ゆるふわ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6647688" y="5166360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自社企画メディア。ゆるいトーンの日常コンテンツでファンを育成。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6647688" y="5788152"/>
            <a:ext cx="4901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 XX万人   |   保存率 X.X%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 |  EVENT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イベントプロモーション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会場の下見から当日の運営まで、体験の場をまるごとつくります。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57600" cy="3977640"/>
          </a:xfrm>
          <a:prstGeom prst="roundRect">
            <a:avLst>
              <a:gd name="adj" fmla="val 2500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221992"/>
            <a:ext cx="3145536" cy="1691640"/>
          </a:xfrm>
          <a:prstGeom prst="roundRect">
            <a:avLst>
              <a:gd name="adj" fmla="val 4324"/>
            </a:avLst>
          </a:prstGeom>
          <a:solidFill>
            <a:srgbClr val="DCE3EE"/>
          </a:solidFill>
          <a:ln/>
        </p:spPr>
      </p:sp>
      <p:sp>
        <p:nvSpPr>
          <p:cNvPr id="7" name="Shape 5"/>
          <p:cNvSpPr/>
          <p:nvPr/>
        </p:nvSpPr>
        <p:spPr>
          <a:xfrm>
            <a:off x="2148840" y="2711196"/>
            <a:ext cx="457200" cy="457200"/>
          </a:xfrm>
          <a:prstGeom prst="ellipse">
            <a:avLst/>
          </a:prstGeom>
          <a:solidFill>
            <a:srgbClr val="9FADC6"/>
          </a:solidFill>
          <a:ln/>
        </p:spPr>
      </p:sp>
      <p:pic>
        <p:nvPicPr>
          <p:cNvPr id="8" name="Image 0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2830068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321411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イベントの写真を挿入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04672" y="406908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1" name="Image 1" descr="/tmp/claude-0/-home-user-Claude-Code/5b1af059-02d5-5344-bd37-e960664de323/scratchpad/asics/icons/wi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418795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89888" y="4087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ハーレーダビッドソン様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4672" y="4690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試乗体験イベントの企画・運営。ブース設営からライダー向けコンテンツまで。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804672" y="5486400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 X,XXX名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462272" y="1965960"/>
            <a:ext cx="3657600" cy="3977640"/>
          </a:xfrm>
          <a:prstGeom prst="roundRect">
            <a:avLst>
              <a:gd name="adj" fmla="val 2500"/>
            </a:avLst>
          </a:prstGeom>
          <a:solidFill>
            <a:srgbClr val="EEF3FB"/>
          </a:solidFill>
          <a:ln/>
        </p:spPr>
      </p:sp>
      <p:sp>
        <p:nvSpPr>
          <p:cNvPr id="16" name="Shape 12"/>
          <p:cNvSpPr/>
          <p:nvPr/>
        </p:nvSpPr>
        <p:spPr>
          <a:xfrm>
            <a:off x="4718304" y="2221992"/>
            <a:ext cx="3145536" cy="1691640"/>
          </a:xfrm>
          <a:prstGeom prst="roundRect">
            <a:avLst>
              <a:gd name="adj" fmla="val 4324"/>
            </a:avLst>
          </a:prstGeom>
          <a:solidFill>
            <a:srgbClr val="DCE3EE"/>
          </a:solidFill>
          <a:ln/>
        </p:spPr>
      </p:sp>
      <p:sp>
        <p:nvSpPr>
          <p:cNvPr id="17" name="Shape 13"/>
          <p:cNvSpPr/>
          <p:nvPr/>
        </p:nvSpPr>
        <p:spPr>
          <a:xfrm>
            <a:off x="6062472" y="2711196"/>
            <a:ext cx="457200" cy="457200"/>
          </a:xfrm>
          <a:prstGeom prst="ellipse">
            <a:avLst/>
          </a:prstGeom>
          <a:solidFill>
            <a:srgbClr val="9FADC6"/>
          </a:solidFill>
          <a:ln/>
        </p:spPr>
      </p:sp>
      <p:pic>
        <p:nvPicPr>
          <p:cNvPr id="18" name="Image 2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830068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718304" y="321411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イベントの写真を挿入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718304" y="406908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21" name="Image 3" descr="/tmp/claude-0/-home-user-Claude-Code/5b1af059-02d5-5344-bd37-e960664de323/scratchpad/asics/icons/rad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18795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03520" y="4087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ラジオパーク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718304" y="4690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公開放送イベントへのブース出展を企画。ステージ連動企画で集客を拡大。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718304" y="5486400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ブース来場 X,XXX名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8375904" y="1965960"/>
            <a:ext cx="3657600" cy="3977640"/>
          </a:xfrm>
          <a:prstGeom prst="roundRect">
            <a:avLst>
              <a:gd name="adj" fmla="val 2500"/>
            </a:avLst>
          </a:prstGeom>
          <a:solidFill>
            <a:srgbClr val="EEF3FB"/>
          </a:solidFill>
          <a:ln/>
        </p:spPr>
      </p:sp>
      <p:sp>
        <p:nvSpPr>
          <p:cNvPr id="26" name="Shape 20"/>
          <p:cNvSpPr/>
          <p:nvPr/>
        </p:nvSpPr>
        <p:spPr>
          <a:xfrm>
            <a:off x="8631936" y="2221992"/>
            <a:ext cx="3145536" cy="1691640"/>
          </a:xfrm>
          <a:prstGeom prst="roundRect">
            <a:avLst>
              <a:gd name="adj" fmla="val 4324"/>
            </a:avLst>
          </a:prstGeom>
          <a:solidFill>
            <a:srgbClr val="DCE3EE"/>
          </a:solidFill>
          <a:ln/>
        </p:spPr>
      </p:sp>
      <p:sp>
        <p:nvSpPr>
          <p:cNvPr id="27" name="Shape 21"/>
          <p:cNvSpPr/>
          <p:nvPr/>
        </p:nvSpPr>
        <p:spPr>
          <a:xfrm>
            <a:off x="9976104" y="2711196"/>
            <a:ext cx="457200" cy="457200"/>
          </a:xfrm>
          <a:prstGeom prst="ellipse">
            <a:avLst/>
          </a:prstGeom>
          <a:solidFill>
            <a:srgbClr val="9FADC6"/>
          </a:solidFill>
          <a:ln/>
        </p:spPr>
      </p:sp>
      <p:pic>
        <p:nvPicPr>
          <p:cNvPr id="28" name="Image 4" descr="/tmp/claude-0/-home-user-Claude-Code/5b1af059-02d5-5344-bd37-e960664de323/scratchpad/asics/icons/camer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76" y="2830068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631936" y="321411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イベントの写真を挿入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8631936" y="4069080"/>
            <a:ext cx="457200" cy="45720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31" name="Image 5" descr="/tmp/claude-0/-home-user-Claude-Code/5b1af059-02d5-5344-bd37-e960664de323/scratchpad/asics/icons/su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4187952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217152" y="4087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イマジン様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631936" y="4690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ファミリー向け体験イベントを企画・運営。SNS投稿を促す仕掛けを設計。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8631936" y="5486400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SNS投稿 X,XXX件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 |  FOR ASICS TRADING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アシックス商事様との取り組み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これまでご一緒してきた取り組みの一部をご紹介します。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2112264"/>
            <a:ext cx="237744" cy="237744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04872"/>
            <a:ext cx="0" cy="960120"/>
          </a:xfrm>
          <a:prstGeom prst="line">
            <a:avLst/>
          </a:prstGeom>
          <a:noFill/>
          <a:ln w="19050">
            <a:solidFill>
              <a:srgbClr val="C4CE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02996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2029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展示会ブースの企画・設営・運営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423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シューズ新商品の発表にあわせ、試着動線を重視したブースを設計。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3410712"/>
            <a:ext cx="237744" cy="237744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703320"/>
            <a:ext cx="0" cy="960120"/>
          </a:xfrm>
          <a:prstGeom prst="line">
            <a:avLst/>
          </a:prstGeom>
          <a:noFill/>
          <a:ln w="19050">
            <a:solidFill>
              <a:srgbClr val="C4CE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328416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店頭販促ツールの制作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7216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量販店向けのPOP・什器を制作。売場での視認性を高める仕様に。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" y="4709160"/>
            <a:ext cx="237744" cy="237744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4626864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6268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SNSキャンペーンの企画・運用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502005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着用写真の投稿キャンペーンを実施。UGCの創出につなげました。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06640" y="1965960"/>
            <a:ext cx="4251960" cy="3931920"/>
          </a:xfrm>
          <a:prstGeom prst="roundRect">
            <a:avLst>
              <a:gd name="adj" fmla="val 2791"/>
            </a:avLst>
          </a:prstGeom>
          <a:solidFill>
            <a:srgbClr val="0B1F4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0" y="2286000"/>
            <a:ext cx="530352" cy="530352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21" name="Image 0" descr="/tmp/claude-0/-home-user-Claude-Code/5b1af059-02d5-5344-bd37-e960664de323/scratchpad/asics/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292" y="2423892"/>
            <a:ext cx="254569" cy="254569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503920" y="23591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お取り組みの実績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3154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お取り引き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34107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20XX年から X年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プロジェクト数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427939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 XX件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0" y="4892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主な領域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51480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展示会・店頭販促・SNS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5486400" cy="5486400"/>
          </a:xfrm>
          <a:prstGeom prst="ellipse">
            <a:avLst/>
          </a:prstGeom>
          <a:solidFill>
            <a:srgbClr val="0033A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2377440"/>
            <a:ext cx="4754880" cy="4754880"/>
          </a:xfrm>
          <a:prstGeom prst="ellipse">
            <a:avLst/>
          </a:prstGeom>
          <a:solidFill>
            <a:srgbClr val="2B5CC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78440" y="2514600"/>
            <a:ext cx="457200" cy="457200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次の企画を、ご一緒させてください。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各実績の詳細資料や制作物の実物は、お打ち合わせの際にご覧いただけます。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アシックス様の課題に合わせたご提案をお持ちします。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502920" cy="502920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8" name="Image 0" descr="/tmp/claude-0/-home-user-Claude-Code/5b1af059-02d5-5344-bd37-e960664de323/scratchpad/asics/icons/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47941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  |  株式会社〇〇 企画・宣伝部  ○○ ○○   xxx@example.co.jp   03-XXXX-XXXX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※数値・施策内容・期間はサンプルです。実績データに合わせて差し替えてご利用ください。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2026-09-14T06:17:33Z</dcterms:created>
  <dcterms:modified xsi:type="dcterms:W3CDTF">2026-09-14T06:17:33Z</dcterms:modified>
</cp:coreProperties>
</file>