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4B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0B1F4B"/>
                </a:solidFill>
                <a:latin typeface="Meiryo"/>
              </a:rPr>
              <a:t>会員数の推移(万人・サンプル)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会員数(万人)</c:v>
                </c:pt>
              </c:strCache>
            </c:strRef>
          </c:tx>
          <c:spPr>
            <a:solidFill>
              <a:srgbClr val="003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F4B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導入前</c:v>
                  </c:pt>
                  <c:pt idx="1">
                    <c:v>3カ月</c:v>
                  </c:pt>
                  <c:pt idx="2">
                    <c:v>6カ月</c:v>
                  </c:pt>
                  <c:pt idx="3">
                    <c:v>12カ月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21</c:v>
                </c:pt>
                <c:pt idx="2">
                  <c:v>35</c:v>
                </c:pt>
                <c:pt idx="3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B1F4B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4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表紙。社名・日付を差し替えてください。数値と事例はすべてサンプルです。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011680"/>
            <a:ext cx="5669280" cy="5669280"/>
          </a:xfrm>
          <a:prstGeom prst="ellipse">
            <a:avLst/>
          </a:prstGeom>
          <a:solidFill>
            <a:srgbClr val="0033A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566160"/>
            <a:ext cx="4206240" cy="4206240"/>
          </a:xfrm>
          <a:prstGeom prst="ellipse">
            <a:avLst/>
          </a:prstGeom>
          <a:solidFill>
            <a:srgbClr val="2B5CC8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89720" y="4206240"/>
            <a:ext cx="502920" cy="502920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TRACK RECORD  |  SAMPLE TEMPLATE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株式会社アシックス 御中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実績のご紹介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スポーツ・アパレル業界におけるデジタル支援の取り組み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株式会社〇〇(貴社名)   |   2026年9月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COMPANY PROFILE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会社概要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会社名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6916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株式会社〇〇(貴社名に差し替え)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03704"/>
            <a:ext cx="6172200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0487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240487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東京都〇〇区〇〇 X-X-X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16936"/>
            <a:ext cx="6172200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1810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11810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20XX年X月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30168"/>
            <a:ext cx="6172200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313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8313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X,XXX万円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6172200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445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従業員数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5445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XXX名(20XX年X月時点)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056632"/>
            <a:ext cx="6172200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2578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事業内容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52578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ECサイト構築・運用支援、CRM・アプリ開発、データ分析基盤の構築 ほか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769864"/>
            <a:ext cx="6172200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23760" y="1691640"/>
            <a:ext cx="4434840" cy="4297680"/>
          </a:xfrm>
          <a:prstGeom prst="roundRect">
            <a:avLst>
              <a:gd name="adj" fmla="val 2553"/>
            </a:avLst>
          </a:prstGeom>
          <a:solidFill>
            <a:srgbClr val="EEF3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89520" y="20116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スポーツの現場とデジタルをつなぐ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589520" y="3063240"/>
            <a:ext cx="502920" cy="50292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25" name="Image 0" descr="/tmp/claude-0/-home-user-Claude-Code/5b1af059-02d5-5344-bd37-e960664de323/scratchpad/asics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279" y="3193999"/>
            <a:ext cx="241402" cy="241402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275320" y="3044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取引社数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275320" y="32826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120社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589520" y="3977640"/>
            <a:ext cx="502920" cy="50292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29" name="Image 1" descr="/tmp/claude-0/-home-user-Claude-Code/5b1af059-02d5-5344-bd37-e960664de323/scratchpad/asics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279" y="4108399"/>
            <a:ext cx="241402" cy="24140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275320" y="39593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拠点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8275320" y="41970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国内3拠点・海外1拠点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7589520" y="4892040"/>
            <a:ext cx="502920" cy="50292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33" name="Image 2" descr="/tmp/claude-0/-home-user-Claude-Code/5b1af059-02d5-5344-bd37-e960664de323/scratchpad/asics/icons/aw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022799"/>
            <a:ext cx="241402" cy="24140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275320" y="4873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業界経験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8275320" y="5111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スポーツ・アパレル領域 10年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HIGHLIGHTS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実績サマリー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数字で見る、これまでのご支援。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70048" cy="3566160"/>
          </a:xfrm>
          <a:prstGeom prst="roundRect">
            <a:avLst>
              <a:gd name="adj" fmla="val 3425"/>
            </a:avLst>
          </a:prstGeom>
          <a:solidFill>
            <a:srgbClr val="EEF3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423160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7" name="Image 0" descr="/tmp/claude-0/-home-user-Claude-Code/5b1af059-02d5-5344-bd37-e960664de323/scratchpad/asics/icons/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570561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2461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支援プロジェクト累計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886200"/>
            <a:ext cx="202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pPr indent="0" marL="0">
              <a:buNone/>
            </a:pPr>
            <a:r>
              <a:rPr lang="en-US" sz="18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件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892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20XX年〜20XX年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511296" y="2057400"/>
            <a:ext cx="2670048" cy="3566160"/>
          </a:xfrm>
          <a:prstGeom prst="roundRect">
            <a:avLst>
              <a:gd name="adj" fmla="val 3425"/>
            </a:avLst>
          </a:prstGeom>
          <a:solidFill>
            <a:srgbClr val="EEF3FB"/>
          </a:solidFill>
          <a:ln/>
        </p:spPr>
      </p:sp>
      <p:sp>
        <p:nvSpPr>
          <p:cNvPr id="12" name="Shape 9"/>
          <p:cNvSpPr/>
          <p:nvPr/>
        </p:nvSpPr>
        <p:spPr>
          <a:xfrm>
            <a:off x="3831336" y="2423160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3" name="Image 1" descr="/tmp/claude-0/-home-user-Claude-Code/5b1af059-02d5-5344-bd37-e960664de323/scratchpad/asics/icons/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737" y="2570561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831336" y="32461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スポーツ関連の案件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831336" y="3886200"/>
            <a:ext cx="202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</a:t>
            </a:r>
            <a:pPr indent="0" marL="0">
              <a:buNone/>
            </a:pPr>
            <a:r>
              <a:rPr lang="en-US" sz="18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件</a:t>
            </a:r>
            <a:endParaRPr lang="en-US" sz="4800" dirty="0"/>
          </a:p>
        </p:txBody>
      </p:sp>
      <p:sp>
        <p:nvSpPr>
          <p:cNvPr id="16" name="Text 12"/>
          <p:cNvSpPr txBox="1"/>
          <p:nvPr/>
        </p:nvSpPr>
        <p:spPr>
          <a:xfrm>
            <a:off x="3831336" y="4892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EC・アプリ・データ分析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473952" y="2057400"/>
            <a:ext cx="2670048" cy="3566160"/>
          </a:xfrm>
          <a:prstGeom prst="roundRect">
            <a:avLst>
              <a:gd name="adj" fmla="val 3425"/>
            </a:avLst>
          </a:prstGeom>
          <a:solidFill>
            <a:srgbClr val="EEF3FB"/>
          </a:solidFill>
          <a:ln/>
        </p:spPr>
      </p:sp>
      <p:sp>
        <p:nvSpPr>
          <p:cNvPr id="18" name="Shape 14"/>
          <p:cNvSpPr/>
          <p:nvPr/>
        </p:nvSpPr>
        <p:spPr>
          <a:xfrm>
            <a:off x="6793992" y="2423160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9" name="Image 2" descr="/tmp/claude-0/-home-user-Claude-Code/5b1af059-02d5-5344-bd37-e960664de323/scratchpad/asics/icons/rep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393" y="257056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93992" y="32461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契約継続率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6793992" y="3886200"/>
            <a:ext cx="202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92</a:t>
            </a:r>
            <a:pPr indent="0" marL="0">
              <a:buNone/>
            </a:pPr>
            <a:r>
              <a:rPr lang="en-US" sz="18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%</a:t>
            </a:r>
            <a:endParaRPr lang="en-US" sz="4800" dirty="0"/>
          </a:p>
        </p:txBody>
      </p:sp>
      <p:sp>
        <p:nvSpPr>
          <p:cNvPr id="22" name="Text 17"/>
          <p:cNvSpPr txBox="1"/>
          <p:nvPr/>
        </p:nvSpPr>
        <p:spPr>
          <a:xfrm>
            <a:off x="6793992" y="4892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直近3年間の平均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436608" y="2057400"/>
            <a:ext cx="2670048" cy="3566160"/>
          </a:xfrm>
          <a:prstGeom prst="roundRect">
            <a:avLst>
              <a:gd name="adj" fmla="val 3425"/>
            </a:avLst>
          </a:prstGeom>
          <a:solidFill>
            <a:srgbClr val="EEF3FB"/>
          </a:solidFill>
          <a:ln/>
        </p:spPr>
      </p:sp>
      <p:sp>
        <p:nvSpPr>
          <p:cNvPr id="24" name="Shape 19"/>
          <p:cNvSpPr/>
          <p:nvPr/>
        </p:nvSpPr>
        <p:spPr>
          <a:xfrm>
            <a:off x="9756648" y="2423160"/>
            <a:ext cx="566928" cy="566928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25" name="Image 3" descr="/tmp/claude-0/-home-user-Claude-Code/5b1af059-02d5-5344-bd37-e960664de323/scratchpad/asics/icons/tren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4049" y="2570561"/>
            <a:ext cx="272125" cy="27212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56648" y="32461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売上改善率の平均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9756648" y="3886200"/>
            <a:ext cx="202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+35</a:t>
            </a:r>
            <a:pPr indent="0" marL="0">
              <a:buNone/>
            </a:pPr>
            <a:r>
              <a:rPr lang="en-US" sz="18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%</a:t>
            </a:r>
            <a:endParaRPr lang="en-US" sz="4800" dirty="0"/>
          </a:p>
        </p:txBody>
      </p:sp>
      <p:sp>
        <p:nvSpPr>
          <p:cNvPr id="28" name="Text 22"/>
          <p:cNvSpPr txBox="1"/>
          <p:nvPr/>
        </p:nvSpPr>
        <p:spPr>
          <a:xfrm>
            <a:off x="9756648" y="4892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EC改善プロジェクト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スポーツ・アパレル業界でのご支援実績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2084832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856232"/>
            <a:ext cx="475488" cy="47548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6" name="Image 0" descr="/tmp/claude-0/-home-user-Claude-Code/5b1af059-02d5-5344-bd37-e960664de323/scratchpad/asics/icons/c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1979859"/>
            <a:ext cx="228234" cy="2282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81965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ランニングシューズD2C EC改善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53288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UI刷新とCRM連携でEC売上を拡大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1363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+42%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62272" y="1600200"/>
            <a:ext cx="3657600" cy="2084832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11" name="Shape 8"/>
          <p:cNvSpPr/>
          <p:nvPr/>
        </p:nvSpPr>
        <p:spPr>
          <a:xfrm>
            <a:off x="4718304" y="1856232"/>
            <a:ext cx="475488" cy="47548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2" name="Image 1" descr="/tmp/claude-0/-home-user-Claude-Code/5b1af059-02d5-5344-bd37-e960664de323/scratchpad/asics/icons/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931" y="1979859"/>
            <a:ext cx="228234" cy="22823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30952" y="181965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会員アプリ・ロイヤルティ施策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718304" y="253288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ランニング記録と連動した会員体験を設計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718304" y="31363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会員数 4.3倍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375904" y="1600200"/>
            <a:ext cx="3657600" cy="2084832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631936" y="1856232"/>
            <a:ext cx="475488" cy="47548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8" name="Image 2" descr="/tmp/claude-0/-home-user-Claude-Code/5b1af059-02d5-5344-bd37-e960664de323/scratchpad/asics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563" y="197985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244584" y="181965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需要予測・在庫最適化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8631936" y="253288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販売データを統合し欠品と過剰在庫を削減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8631936" y="31363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欠品率 -18pt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3959352"/>
            <a:ext cx="3657600" cy="2084832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23" name="Shape 18"/>
          <p:cNvSpPr/>
          <p:nvPr/>
        </p:nvSpPr>
        <p:spPr>
          <a:xfrm>
            <a:off x="804672" y="4215384"/>
            <a:ext cx="475488" cy="47548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24" name="Image 3" descr="/tmp/claude-0/-home-user-Claude-Code/5b1af059-02d5-5344-bd37-e960664de323/scratchpad/asics/icon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99" y="4339011"/>
            <a:ext cx="228234" cy="22823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17320" y="4178808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越境EC立ち上げ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804672" y="489204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東南アジア3カ国への販売チャネルを構築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804672" y="549554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海外売上 XX億円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4462272" y="3959352"/>
            <a:ext cx="3657600" cy="2084832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29" name="Shape 23"/>
          <p:cNvSpPr/>
          <p:nvPr/>
        </p:nvSpPr>
        <p:spPr>
          <a:xfrm>
            <a:off x="4718304" y="4215384"/>
            <a:ext cx="475488" cy="47548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30" name="Image 4" descr="/tmp/claude-0/-home-user-Claude-Code/5b1af059-02d5-5344-bd37-e960664de323/scratchpad/asics/icons/monit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1931" y="4339011"/>
            <a:ext cx="228234" cy="22823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330952" y="4178808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OMO店舗施策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718304" y="489204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店頭在庫のオンライン連携と取り置き予約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4718304" y="549554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来店転換 +25%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375904" y="3959352"/>
            <a:ext cx="3657600" cy="2084832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35" name="Shape 28"/>
          <p:cNvSpPr/>
          <p:nvPr/>
        </p:nvSpPr>
        <p:spPr>
          <a:xfrm>
            <a:off x="8631936" y="4215384"/>
            <a:ext cx="475488" cy="47548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36" name="Image 5" descr="/tmp/claude-0/-home-user-Claude-Code/5b1af059-02d5-5344-bd37-e960664de323/scratchpad/asics/icons/za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5563" y="4339011"/>
            <a:ext cx="228234" cy="22823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244584" y="4178808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パーソナライズ施策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8631936" y="489204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行動データに基づくレコメンドとメール配信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8631936" y="549554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 +1.8pt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ランニングシューズD2C ECサイト改善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スポーツメーカーA社様  |  期間 8カ月  |  体制 6名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EEF3FB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212848"/>
            <a:ext cx="502920" cy="50292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7" name="Image 0" descr="/tmp/claude-0/-home-user-Claude-Code/5b1af059-02d5-5344-bd37-e960664de323/scratchpad/asic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" y="2343607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26771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2880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EC売上が2年連続で横ばい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カート離脱率が業界平均を大きく上回る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会員データが店舗とECで分断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 rot="5400000">
            <a:off x="4197096" y="3735324"/>
            <a:ext cx="347472" cy="347472"/>
          </a:xfrm>
          <a:prstGeom prst="triangle">
            <a:avLst/>
          </a:prstGeom>
          <a:solidFill>
            <a:srgbClr val="E8362D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92024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EEF3FB"/>
          </a:solidFill>
          <a:ln/>
        </p:spPr>
      </p:sp>
      <p:sp>
        <p:nvSpPr>
          <p:cNvPr id="12" name="Shape 9"/>
          <p:cNvSpPr/>
          <p:nvPr/>
        </p:nvSpPr>
        <p:spPr>
          <a:xfrm>
            <a:off x="4956048" y="2212848"/>
            <a:ext cx="502920" cy="502920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3" name="Image 1" descr="/tmp/claude-0/-home-user-Claude-Code/5b1af059-02d5-5344-bd37-e960664de323/scratchpad/asics/icons/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807" y="2343607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23560" y="226771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971800"/>
            <a:ext cx="2880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購入導線を再設計しステップ数を半減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店舗・EC共通の会員基盤を構築</a:t>
            </a:r>
            <a:endParaRPr lang="en-US" sz="12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購買履歴に基づくレコメンドを導入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 rot="5400000">
            <a:off x="8311896" y="3735324"/>
            <a:ext cx="347472" cy="347472"/>
          </a:xfrm>
          <a:prstGeom prst="triangle">
            <a:avLst/>
          </a:prstGeom>
          <a:solidFill>
            <a:srgbClr val="E8362D"/>
          </a:solidFill>
          <a:ln/>
        </p:spPr>
      </p:sp>
      <p:sp>
        <p:nvSpPr>
          <p:cNvPr id="17" name="Shape 13"/>
          <p:cNvSpPr/>
          <p:nvPr/>
        </p:nvSpPr>
        <p:spPr>
          <a:xfrm>
            <a:off x="8778240" y="1920240"/>
            <a:ext cx="3429000" cy="3977640"/>
          </a:xfrm>
          <a:prstGeom prst="roundRect">
            <a:avLst>
              <a:gd name="adj" fmla="val 2667"/>
            </a:avLst>
          </a:prstGeom>
          <a:solidFill>
            <a:srgbClr val="0B1F4B"/>
          </a:solidFill>
          <a:ln/>
        </p:spPr>
      </p:sp>
      <p:sp>
        <p:nvSpPr>
          <p:cNvPr id="18" name="Shape 14"/>
          <p:cNvSpPr/>
          <p:nvPr/>
        </p:nvSpPr>
        <p:spPr>
          <a:xfrm>
            <a:off x="9070848" y="2212848"/>
            <a:ext cx="502920" cy="502920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19" name="Image 2" descr="/tmp/claude-0/-home-user-Claude-Code/5b1af059-02d5-5344-bd37-e960664de323/scratchpad/asics/icons/tren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1607" y="2343607"/>
            <a:ext cx="241402" cy="241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738360" y="226771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9098280" y="29718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EC売上</a:t>
            </a:r>
            <a:endParaRPr lang="en-US" sz="13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+42%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90982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カート離脱率  -14pt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会員登録数  2.1倍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会員アプリによるロイヤルティ強化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スポーツ用品小売B社様  |  期間 12カ月  |  体制 8名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6" name="Image 0" descr="/tmp/claude-0/-home-user-Claude-Code/5b1af059-02d5-5344-bd37-e960664de323/scratchpad/asics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2103852"/>
            <a:ext cx="254569" cy="2545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92938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227685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ポイントカードの利用率が低く、購買データを施策に活かせていなかった。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33756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0" name="Image 1" descr="/tmp/claude-0/-home-user-Claude-Code/5b1af059-02d5-5344-bd37-e960664de323/scratchpad/asics/icons/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3475452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98448" y="330098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98448" y="364845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ランニング記録と連動する会員アプリを開発。走った距離に応じて特典が貯まる仕組みを導入。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70916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4" name="Image 2" descr="/tmp/claude-0/-home-user-Claude-Code/5b1af059-02d5-5344-bd37-e960664de323/scratchpad/asic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4847052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98448" y="467258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298448" y="502005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アプリ経由の再購入率が店舗単独時代の2倍に。会員数は1年で4.3倍まで拡大。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355080" y="182880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EEF3FB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583680" y="2057400"/>
          <a:ext cx="48463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需要予測による在庫最適化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アパレルメーカーC社様  |  期間 10カ月  |  体制 5名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6" name="Image 0" descr="/tmp/claude-0/-home-user-Claude-Code/5b1af059-02d5-5344-bd37-e960664de323/scratchpad/asics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2103852"/>
            <a:ext cx="254569" cy="2545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9293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データ統合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227685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店舗POS・EC・倉庫の在庫データを1つの基盤に統合。日次で自動更新される体制を整備。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33756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0" name="Image 1" descr="/tmp/claude-0/-home-user-Claude-Code/5b1af059-02d5-5344-bd37-e960664de323/scratchpad/asics/icons/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3475452"/>
            <a:ext cx="254569" cy="2545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98448" y="33009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需要予測モデル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98448" y="364845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天候・イベント・過去の販売実績を組み合わせ、SKU単位で4週間先の需要を予測。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709160"/>
            <a:ext cx="530352" cy="530352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4" name="Image 2" descr="/tmp/claude-0/-home-user-Claude-Code/5b1af059-02d5-5344-bd37-e960664de323/scratchpad/asics/icons/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4847052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98448" y="46725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発注業務の刷新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298448" y="502005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予測に基づく推奨発注量を毎朝担当者に提示。属人的だった発注判断を標準化。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675120" y="1965960"/>
            <a:ext cx="4937760" cy="1874520"/>
          </a:xfrm>
          <a:prstGeom prst="roundRect">
            <a:avLst>
              <a:gd name="adj" fmla="val 4878"/>
            </a:avLst>
          </a:prstGeom>
          <a:solidFill>
            <a:srgbClr val="0B1F4B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0408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欠品率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7040880" y="253288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-18pt</a:t>
            </a:r>
            <a:endParaRPr lang="en-US" sz="4200" dirty="0"/>
          </a:p>
        </p:txBody>
      </p:sp>
      <p:sp>
        <p:nvSpPr>
          <p:cNvPr id="20" name="Text 15"/>
          <p:cNvSpPr txBox="1"/>
          <p:nvPr/>
        </p:nvSpPr>
        <p:spPr>
          <a:xfrm>
            <a:off x="7040880" y="3383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主力カテゴリの平均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675120" y="4069080"/>
            <a:ext cx="4937760" cy="1874520"/>
          </a:xfrm>
          <a:prstGeom prst="roundRect">
            <a:avLst>
              <a:gd name="adj" fmla="val 4878"/>
            </a:avLst>
          </a:prstGeom>
          <a:solidFill>
            <a:srgbClr val="EEF3FB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40880" y="4343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過剰在庫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7040880" y="463600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-31%</a:t>
            </a:r>
            <a:endParaRPr lang="en-US" sz="4200" dirty="0"/>
          </a:p>
        </p:txBody>
      </p:sp>
      <p:sp>
        <p:nvSpPr>
          <p:cNvPr id="24" name="Text 19"/>
          <p:cNvSpPr txBox="1"/>
          <p:nvPr/>
        </p:nvSpPr>
        <p:spPr>
          <a:xfrm>
            <a:off x="7040880" y="5486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シーズン終了時の残在庫金額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OUR SERVICES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アシックス様にご提供できること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これまでの実績をもとに、次の4つの領域でお力になれます。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331720"/>
            <a:ext cx="566928" cy="566928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7" name="Image 0" descr="/tmp/claude-0/-home-user-Claude-Code/5b1af059-02d5-5344-bd37-e960664de323/scratchpad/asics/icons/c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479121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3774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EC・デジタルコマース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288036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自社EC・D2Cサイトの構築から、売上改善のためのUI/UX最適化、CRO施策の実行まで。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55080" y="201168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11" name="Shape 8"/>
          <p:cNvSpPr/>
          <p:nvPr/>
        </p:nvSpPr>
        <p:spPr>
          <a:xfrm>
            <a:off x="6675120" y="2331720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2" name="Image 1" descr="/tmp/claude-0/-home-user-Claude-Code/5b1af059-02d5-5344-bd37-e960664de323/scratchpad/asics/icons/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521" y="247912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0" y="23774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会員基盤・アプリ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498080" y="288036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ランニングコミュニティと連動した会員体験の設計、アプリ開発、ロイヤルティ施策の運用。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17" name="Image 2" descr="/tmp/claude-0/-home-user-Claude-Code/5b1af059-02d5-5344-bd37-e960664de323/scratchpad/asics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76512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91640" y="46634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データ活用・需要予測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91640" y="516636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販売・在庫・行動データの統合基盤構築と、需要予測やパーソナライズへの活用。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355080" y="429768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EEF3FB"/>
          </a:solidFill>
          <a:ln/>
        </p:spPr>
      </p:sp>
      <p:sp>
        <p:nvSpPr>
          <p:cNvPr id="21" name="Shape 16"/>
          <p:cNvSpPr/>
          <p:nvPr/>
        </p:nvSpPr>
        <p:spPr>
          <a:xfrm>
            <a:off x="6675120" y="4617720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pic>
        <p:nvPicPr>
          <p:cNvPr id="22" name="Image 3" descr="/tmp/claude-0/-home-user-Claude-Code/5b1af059-02d5-5344-bd37-e960664de323/scratchpad/asics/icon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521" y="4765121"/>
            <a:ext cx="272125" cy="27212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0" y="46634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グローバル展開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498080" y="516636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越境ECの立ち上げ、現地決済・物流の整備、多言語サイトの構築と運用。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プロジェクトの進め方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小さく検証しながら進めるのが基本方針です。最初の1カ月で成果の見込みをご判断いただけます。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487168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24612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現状分析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675888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約2週間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4069080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データと業務フローを拝見し、改善余地の大きい領域を特定します。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5400000">
            <a:off x="3172968" y="3749040"/>
            <a:ext cx="274320" cy="274320"/>
          </a:xfrm>
          <a:prstGeom prst="triangle">
            <a:avLst/>
          </a:prstGeom>
          <a:solidFill>
            <a:srgbClr val="E8362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13" name="Shape 11"/>
          <p:cNvSpPr/>
          <p:nvPr/>
        </p:nvSpPr>
        <p:spPr>
          <a:xfrm>
            <a:off x="3767328" y="2487168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6732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324612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計画策定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767328" y="3675888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約2週間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767328" y="4069080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優先順位と投資対効果を整理し、実行計画をご提案します。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99048" y="3749040"/>
            <a:ext cx="274320" cy="274320"/>
          </a:xfrm>
          <a:prstGeom prst="triangle">
            <a:avLst/>
          </a:prstGeom>
          <a:solidFill>
            <a:srgbClr val="E83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0B1F4B"/>
          </a:solidFill>
          <a:ln/>
        </p:spPr>
      </p:sp>
      <p:sp>
        <p:nvSpPr>
          <p:cNvPr id="20" name="Shape 18"/>
          <p:cNvSpPr/>
          <p:nvPr/>
        </p:nvSpPr>
        <p:spPr>
          <a:xfrm>
            <a:off x="6693408" y="2487168"/>
            <a:ext cx="566928" cy="566928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9340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324612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実行・検証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693408" y="3675888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3〜6カ月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693408" y="4069080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小さく施策を試し、数値で効果を確かめながら本格展開へ。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5400000">
            <a:off x="9025128" y="3749040"/>
            <a:ext cx="274320" cy="274320"/>
          </a:xfrm>
          <a:prstGeom prst="triangle">
            <a:avLst/>
          </a:prstGeom>
          <a:solidFill>
            <a:srgbClr val="E8362D"/>
          </a:solidFill>
          <a:ln/>
        </p:spPr>
      </p:sp>
      <p:sp>
        <p:nvSpPr>
          <p:cNvPr id="26" name="Shape 24"/>
          <p:cNvSpPr/>
          <p:nvPr/>
        </p:nvSpPr>
        <p:spPr>
          <a:xfrm>
            <a:off x="932688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EEF3FB"/>
          </a:solidFill>
          <a:ln/>
        </p:spPr>
      </p:sp>
      <p:sp>
        <p:nvSpPr>
          <p:cNvPr id="27" name="Shape 25"/>
          <p:cNvSpPr/>
          <p:nvPr/>
        </p:nvSpPr>
        <p:spPr>
          <a:xfrm>
            <a:off x="9619488" y="2487168"/>
            <a:ext cx="566928" cy="566928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1948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619488" y="324612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定着・拡大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619488" y="3675888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36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9619488" y="4069080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運用を内製化しながら、対象領域を段階的に広げていきます。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13842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5486400" cy="5486400"/>
          </a:xfrm>
          <a:prstGeom prst="ellipse">
            <a:avLst/>
          </a:prstGeom>
          <a:solidFill>
            <a:srgbClr val="0033A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-2377440"/>
            <a:ext cx="4754880" cy="4754880"/>
          </a:xfrm>
          <a:prstGeom prst="ellipse">
            <a:avLst/>
          </a:prstGeom>
          <a:solidFill>
            <a:srgbClr val="2B5CC8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78440" y="2514600"/>
            <a:ext cx="457200" cy="457200"/>
          </a:xfrm>
          <a:prstGeom prst="ellipse">
            <a:avLst/>
          </a:prstGeom>
          <a:solidFill>
            <a:srgbClr val="E8362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まずは課題をお聞かせください。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アシックス様の状況に合わせて、実績データの詳細や類似事例をご紹介します。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初回のご相談・お見積りは無償です。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663440"/>
            <a:ext cx="502920" cy="502920"/>
          </a:xfrm>
          <a:prstGeom prst="ellipse">
            <a:avLst/>
          </a:prstGeom>
          <a:solidFill>
            <a:srgbClr val="E8362D"/>
          </a:solidFill>
          <a:ln/>
        </p:spPr>
      </p:sp>
      <p:pic>
        <p:nvPicPr>
          <p:cNvPr id="8" name="Image 0" descr="/tmp/claude-0/-home-user-Claude-Code/5b1af059-02d5-5344-bd37-e960664de323/scratchpad/asics/icons/m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47941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47548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  |  株式会社〇〇 営業部  ○○ ○○   xxx@example.co.jp   03-XXXX-XXXX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8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※本資料に記載の数値・事例・社名はすべてサンプルです。実データに差し替えてご利用ください。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2026-09-14T05:40:52Z</dcterms:created>
  <dcterms:modified xsi:type="dcterms:W3CDTF">2026-09-14T05:40:52Z</dcterms:modified>
</cp:coreProperties>
</file>